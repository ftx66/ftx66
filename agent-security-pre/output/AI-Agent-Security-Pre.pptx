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大家好，我们组今天想讲一个最近很火、但也很容易被忽视的问题：当 AI 不只是回答你，而是开始替你点鼠标、读文件、开网页、调工具，它出错的后果会是什么？
最近很多人关注 OpenClaw 这类 AI agent，因为它真的能替你做事，所以看起来特别强。但也正因为它能做事，安全问题就不再只是“它会不会胡说八道”，而是“它会不会替别人动手”。
我们今天会从一个比较前沿的研究方向切入，叫 Agent Tool-Use 后门攻击，再把它落回大家最关心的问题：作为计算机学生，我们平时用本地 agent、CLI 工具，还有网页版 AI，到底该怎么更安全。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这一页不是讲知识点，而是让老师和同学一开始就知道：我们这次不是零散讲故事，而是有一个 20 分钟版本的完整结构。
我们把整场汇报拆成 4 个段落，也对应 4 位组员。前 5 分钟先把为什么要关心、什么是 Agent 讲清楚；中间 10 分钟重点讲攻击方式；最后 5 分钟讲为什么难防，以及作为计算机学生怎么保护自己。
这样安排的好处是，每个人大概负责 4 页，排练时更容易控制时间，也不容易出现某个同学讲太少或者太多的情况。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为什么最近这个问题一下子变得特别现实？因为越来越多 AI 已经不只是聊天，而是真的开始接触网页、文件、附件和工具。
OpenClaw 这类平台之所以出圈，就是因为它让很多人第一次直观感受到：AI 不只是会说，还会做。OpenClaw 官方安全文档也特别提醒，prompt injection 不一定来自别人直接给 bot 发消息，网页、邮件、文档、附件、日志，甚至贴进去的代码，都可能成为攻击入口。
所以从安全角度看，风险已经从“模型会不会说错”升级到“系统会不会做错”。这也是为什么这个题其实和全班同学都有关。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先用一句最简单的话解释 Agent：普通聊天机器人主要负责给你答案，但 Agent 不只是回答，它还会自己分解任务、调用工具、读取环境反馈，然后再决定下一步做什么。
很多论文会用 ReAct 框架来描述这个过程，也就是用户指令、思考、行动、观察、再思考，最后输出结果。
问题就在这里：传统大模型出问题，往往是说错话；而 Agent 出问题，可能是查错资料、发错邮件、删错文件，甚至调用了不该调用的服务。也就是说，风险从内容层，扩展到了行为层。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为什么我们要单独讲 OpenClaw？因为它让“Agent 安全”这件事突然有了现实感。
过去很多同学提到 AI，想到的还是聊天机器人；但 OpenClaw 这类系统让大家看到，AI 已经开始接网页、读文件、调工具、接插件。于是风险的性质也变了：不是“它会不会胡说”，而是“它有没有机会替别人动手”。
而且 OpenClaw 官方安全文档特别提醒，注入不只来自聊天框，网页、邮件、附件、日志、代码片段都可能是入口。这句你们在台上说出来，会让同学很快意识到问题离自己并不远。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这页是我们全场最重要的结构图。你们同学原稿里最有价值的一点，就是把四类风险分开讲。
第一类，Query Attack，触发器藏在用户输入里。第二类，Observation Attack，触发器藏在网页、PDF、邮件这类环境内容里。第三类，Thought Attack，答案可能还是对的，但中间思考路径已经被劫持。第四类，Skill Attack，插件描述或者插件代码本身带毒。
这一页说清楚以后，后面所有例子都能落到这四个框里，同学们就不会觉得是零散的安全故事，而会觉得你们是有体系地在讲。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如果要从最容易理解的一类讲起，那就是 Query Attack。它和传统后门最像：在用户输入里埋一个触发器，然后让模型在遇到这个触发器时走向攻击者想要的路径。
这里最关键的是“第一轮思考被带偏”。对 Agent 来说，后门不一定立刻体现在最终输出上，它往往先体现在最开始的 Thought，接着再影响后面的工具选择和行动方向。
这页讲完以后，再转去 Observation Attack，就能让同学明白：一个是“问题里藏暗号”，一个是“环境里藏指令”。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第一类也是最容易理解的一类，是 Observation Attack，你也可以把它理解成“环境里的隐藏指令”。
比如你让一个 agent 去总结一份 PDF，表面上你的任务很正常，但那个网页或者文档里可能藏着一段对人眼不明显、却会被模型当成指令读进去的内容。结果就是，用户本来想让它总结内容，它却被引导去忽略原任务，甚至触发额外工具调用。
这里最关键的一点是：用户本人完全可能是无辜的，问题出在 agent 读取到的外部内容。所以网页、邮件、PDF、附件，不能只当作数据，还要当作潜在攻击入口。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第二类更隐蔽，叫 Thought Attack 或者 Tool Hijack。它可怕的地方在于，最后给用户的答案可能还是对的，但中间过程已经被劫持了。
举个例子，用户只是让 agent 翻译一句话，最后它也确实翻译对了，所以表面上看没有任何异常。但如果它在中间偷偷调用了攻击者控制的第三方翻译 API，那用户输入的内容其实已经被外泄了。
所以对于 agent 来说，安全不能只看“最终回答对不对”，还要看它“中间到底做了什么”。这一点是很多普通用户最容易忽略的。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第三类和大家平时使用最相关，就是 Skill 或插件投毒。很多同学看到一个插件名字很强、GitHub star 很多，就想直接装上试试。但在 agent 系统里，skill 不是一篇资料，而是一段能真正执行行为的东西。
这里至少有两层风险。第一层是描述误导：一个插件在介绍里塞了很多高相关关键词，结果本来不该它出场的任务，系统却把它检索出来了。第二层更直接：这个插件确实被正确检索到了，但它的底层代码本身就是恶意的，会偷偷上传文件、窃取密钥，或者调用不该调的接口。
所以从安全角度看，安装 skill 不是“加一个功能”，而更像“运行别人写的代码”。这句话在台上讲出来会非常有记忆点。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这一页非常重要，因为它把前面零散的术语变成了一条同学们能听懂的现实故事线。
一个正常任务开始，比如总结 PDF。接着，外部内容里藏了注入，Agent 被带偏；然后它又检索到一个有问题的 Skill；最后结果看起来还不错，用户就很可能忽略整个过程其实已经失控了。
这页讲完以后，老师会更容易感受到：你们不是在堆概念，而是在说明“为什么 AI 安全会从一个点，变成一整条链的系统问题”。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如果从神经网络的角度来理解，后门并不是写在模型里的一个显式 if-else，而更像是通过训练让模型在参数里记住了一种“条件反射”。
研究里常见的做法，是让模型在大量正常轨迹里，再混入少量带有特殊触发条件的异常轨迹。这里的轨迹不只是问题和答案，而是完整的“问题、思考、工具、观察、再思考”流程。
模型在微调时，就可能学到一种隐藏映射：平时表现正常，但一旦遇到某类触发器，就走向攻击者想要的那条路径。对 Agent 来说，这种触发器还不一定是关键词，它可能是一种任务类型、一个环境条件，或者某种外部观察结果。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前面我们讲了很多攻击，这一页要告诉老师：我们不是在“教别人怎么打”，而是在理解为什么这件事难防。
目前常见的防线包括输入过滤、推理审查、权限收缩和沙箱隔离。但问题在于，Agent 的触发器不再只有关键词，它可能藏在环境、状态、记忆、工具描述里；而且它是多步执行系统，很难像传统程序一样快速定位到底哪一步出了问题。
这也是为什么 Agent 安全仍然是一个活跃研究方向。你们可以把这页讲成“批判性思维”的展示页。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这一页我们故意只讲“本地工具”这一种场景，不把所有建议都混在一起。因为对很多计算机学生来说，真正高风险的往往就是本地 Agent、CLI 工具、浏览器自动化和脚本执行。
第一，权限最小化。第二，环境隔离。第三，重要动作可追踪、可回滚。你们在台上可以把它讲成一句话：先别急着追求方便，先问这个 Agent 今天到底能看到什么、能碰到什么、能做到什么。
这一页讲完，再下一页去讲插件、网页版 AI 和团队协作，逻辑就会很自然。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前一页我们讲的是本地 Agent 和 CLI，这一页就专门讲最容易被大家忽略的三件事：插件、网页 AI、以及团队协作时的安全习惯。
插件和 Skill 最大的问题是：大家很容易把“热门”误认为“安全”。网页版 AI 最大的问题是：大家很容易把云端当作安全收纳箱。团队协作最大的问题则是：大家为了演示方便，常常直接用真账号、真数据、真权限。
所以这一页的核心作用，是把前面的理论落到非常具体的“马上就能执行的习惯”上。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最后我们想用一句话收尾：从 chatbot 到 agent，风险的升级不是从“会不会说错”到“会不会说得更像”，而是从“会不会说错话”到“会不会做错事”。
所以未来评价一个 AI 系统，不能只看它聪不聪明，还要看它有没有被妥善约束、它的工具边界清不清楚、它出了问题以后能造成多大后果。
希望今天这 20 分钟，大家带走的不只是几个安全术语，而是一个更重要的判断标准：当 AI 开始替你行动时，安全就必须和能力一起被设计。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这页一般不需要口述。如果老师追问来源，你们就说三类：第一是 OpenClaw 官方安全文档，第二是 LLM backdoor 和 trustworthy agents 的 survey，第三是解释为什么这个话题最近特别热的媒体背景。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bstract dark gradient background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" y="6217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D4C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人工智能神经网络课程 Pre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713232" y="1207008"/>
            <a:ext cx="7132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 AI 开始替你点鼠标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713232" y="208483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 OpenClaw 热潮看 Agent 安全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31520" y="2779776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关键词：Agent Tool-Use / 后门攻击 / AI 安全实践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882128" y="914400"/>
            <a:ext cx="3456432" cy="2331720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028432" y="1024128"/>
            <a:ext cx="1143000" cy="219456"/>
          </a:xfrm>
          <a:prstGeom prst="rect">
            <a:avLst/>
          </a:prstGeom>
          <a:solidFill>
            <a:srgbClr val="11192C"/>
          </a:solidFill>
          <a:ln>
            <a:solidFill>
              <a:srgbClr val="2FD4C7">
                <a:alpha val="4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D4C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一句话主旨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046720" y="133502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Chatbot 会说错话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046720" y="1719072"/>
            <a:ext cx="312724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可能会做错事。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 AI 开始读文件、开网页、调工具，安全问题就从“内容风险”升级成“行为风险”。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882128" y="914400"/>
            <a:ext cx="54864" cy="2331720"/>
          </a:xfrm>
          <a:prstGeom prst="rect">
            <a:avLst/>
          </a:prstGeom>
          <a:solidFill>
            <a:srgbClr val="2FD4C7"/>
          </a:solidFill>
          <a:ln w="12700">
            <a:solidFill>
              <a:srgbClr val="2FD4C7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" y="3657600"/>
            <a:ext cx="1188720" cy="274320"/>
          </a:xfrm>
          <a:prstGeom prst="rect">
            <a:avLst/>
          </a:prstGeom>
          <a:solidFill>
            <a:srgbClr val="1B243B"/>
          </a:solidFill>
          <a:ln>
            <a:solidFill>
              <a:srgbClr val="FF8A3D">
                <a:alpha val="4200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8A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说错话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048256" y="3657600"/>
            <a:ext cx="1188720" cy="274320"/>
          </a:xfrm>
          <a:prstGeom prst="rect">
            <a:avLst/>
          </a:prstGeom>
          <a:solidFill>
            <a:srgbClr val="1B243B"/>
          </a:solidFill>
          <a:ln>
            <a:solidFill>
              <a:srgbClr val="FF5E6C">
                <a:alpha val="4200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5E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做错事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346704" y="3657600"/>
            <a:ext cx="1463040" cy="274320"/>
          </a:xfrm>
          <a:prstGeom prst="rect">
            <a:avLst/>
          </a:prstGeom>
          <a:solidFill>
            <a:srgbClr val="1B243B"/>
          </a:solidFill>
          <a:ln>
            <a:solidFill>
              <a:srgbClr val="7CE38B">
                <a:alpha val="4200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E3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管好权限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49808" y="4133088"/>
            <a:ext cx="4041648" cy="1316736"/>
          </a:xfrm>
          <a:prstGeom prst="roundRect">
            <a:avLst/>
          </a:prstGeom>
          <a:solidFill>
            <a:srgbClr val="11192C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14400" y="4297680"/>
            <a:ext cx="3712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学校与场景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914400" y="4700016"/>
            <a:ext cx="37124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澳门城市大学 · 数据科学研究生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人工智能神经网络课程汇报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029200" y="4133088"/>
            <a:ext cx="2743200" cy="1316736"/>
          </a:xfrm>
          <a:prstGeom prst="roundRect">
            <a:avLst/>
          </a:prstGeom>
          <a:solidFill>
            <a:srgbClr val="11192C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193792" y="4297680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小组成员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193792" y="4700016"/>
            <a:ext cx="24140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请替换为 4 位同学姓名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028432" y="4133088"/>
            <a:ext cx="3310128" cy="1316736"/>
          </a:xfrm>
          <a:prstGeom prst="roundRect">
            <a:avLst/>
          </a:prstGeom>
          <a:solidFill>
            <a:srgbClr val="11192C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8193024" y="429768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讲述路径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8193024" y="4700016"/>
            <a:ext cx="29809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20分钟版本：热点切入 → Agent 原理 → 四类攻击 → 防御与安全实践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658368" y="6419088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Deck built with PptxGenJS. 建议在 PowerPoint 中把“小组成员”替换为真实姓名。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11109960" y="320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bstract dark gradient background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502920"/>
            <a:ext cx="2606040" cy="310896"/>
          </a:xfrm>
          <a:prstGeom prst="rect">
            <a:avLst/>
          </a:prstGeom>
          <a:solidFill>
            <a:srgbClr val="1A2338">
              <a:alpha val="95000"/>
            </a:srgbClr>
          </a:solidFill>
          <a:ln>
            <a:solidFill>
              <a:srgbClr val="58A6FF">
                <a:alpha val="42000"/>
              </a:srgbClr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ROADMAP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21792" y="89611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 分钟版本怎么讲：4 个人，16 页正文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21792" y="160934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把课堂汇报拆成 4 个段落，每个人负责 4 页，既容易排练，也更容易控制节奏。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49808" y="2157984"/>
            <a:ext cx="2487168" cy="1883664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96112" y="2267712"/>
            <a:ext cx="1143000" cy="219456"/>
          </a:xfrm>
          <a:prstGeom prst="rect">
            <a:avLst/>
          </a:prstGeom>
          <a:solidFill>
            <a:srgbClr val="11192C"/>
          </a:solidFill>
          <a:ln>
            <a:solidFill>
              <a:srgbClr val="2FD4C7">
                <a:alpha val="4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D4C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14400" y="2578608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热点与问题意识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2962656"/>
            <a:ext cx="215798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1 - 4 页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为什么大家都该关心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什么是 Agent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 OpenClaw 让风险变得现实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49808" y="2157984"/>
            <a:ext cx="54864" cy="1883664"/>
          </a:xfrm>
          <a:prstGeom prst="rect">
            <a:avLst/>
          </a:prstGeom>
          <a:solidFill>
            <a:srgbClr val="2FD4C7"/>
          </a:solidFill>
          <a:ln w="12700">
            <a:solidFill>
              <a:srgbClr val="2FD4C7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01568" y="2157984"/>
            <a:ext cx="2487168" cy="1883664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547872" y="2267712"/>
            <a:ext cx="1143000" cy="219456"/>
          </a:xfrm>
          <a:prstGeom prst="rect">
            <a:avLst/>
          </a:prstGeom>
          <a:solidFill>
            <a:srgbClr val="11192C"/>
          </a:solidFill>
          <a:ln>
            <a:solidFill>
              <a:srgbClr val="FF8A3D">
                <a:alpha val="4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8A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566160" y="2578608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 类攻击方式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566160" y="2962656"/>
            <a:ext cx="215798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5 - 8 页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先给全景图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再分别讲 Query 与 Observation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让同学听懂“触发器”概念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401568" y="2157984"/>
            <a:ext cx="54864" cy="1883664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53328" y="2157984"/>
            <a:ext cx="2487168" cy="1883664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199632" y="2267712"/>
            <a:ext cx="1143000" cy="219456"/>
          </a:xfrm>
          <a:prstGeom prst="rect">
            <a:avLst/>
          </a:prstGeom>
          <a:solidFill>
            <a:srgbClr val="11192C"/>
          </a:solidFill>
          <a:ln>
            <a:solidFill>
              <a:srgbClr val="FF5E6C">
                <a:alpha val="4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5E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3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217920" y="2578608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更隐蔽的攻击与原理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217920" y="2962656"/>
            <a:ext cx="215798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9 - 12 页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Thought / Skill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一条完整攻击链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神经网络后门怎么形成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053328" y="2157984"/>
            <a:ext cx="54864" cy="1883664"/>
          </a:xfrm>
          <a:prstGeom prst="rect">
            <a:avLst/>
          </a:prstGeom>
          <a:solidFill>
            <a:srgbClr val="FF5E6C"/>
          </a:solidFill>
          <a:ln w="12700">
            <a:solidFill>
              <a:srgbClr val="FF5E6C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705088" y="2157984"/>
            <a:ext cx="1901952" cy="1883664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8851392" y="2267712"/>
            <a:ext cx="1143000" cy="219456"/>
          </a:xfrm>
          <a:prstGeom prst="rect">
            <a:avLst/>
          </a:prstGeom>
          <a:solidFill>
            <a:srgbClr val="11192C"/>
          </a:solidFill>
          <a:ln>
            <a:solidFill>
              <a:srgbClr val="7CE38B">
                <a:alpha val="4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E3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4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869680" y="257860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防御与结论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8869680" y="2962656"/>
            <a:ext cx="15727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13 - 16 页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为什么难防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本地工具怎么用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网页 AI 怎么防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最后收束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8705088" y="2157984"/>
            <a:ext cx="54864" cy="1883664"/>
          </a:xfrm>
          <a:prstGeom prst="rect">
            <a:avLst/>
          </a:prstGeom>
          <a:solidFill>
            <a:srgbClr val="7CE38B"/>
          </a:solidFill>
          <a:ln w="12700">
            <a:solidFill>
              <a:srgbClr val="7CE38B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14400" y="480974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 min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3566160" y="480974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 min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236208" y="480974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 min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8915400" y="480974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 min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0863072" y="480974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 min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1005840" y="5138928"/>
            <a:ext cx="9985248" cy="0"/>
          </a:xfrm>
          <a:prstGeom prst="line">
            <a:avLst/>
          </a:prstGeom>
          <a:noFill/>
          <a:ln w="12700">
            <a:solidFill>
              <a:srgbClr val="324465"/>
            </a:solidFill>
            <a:prstDash val="solid"/>
            <a:headEnd type="none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1389888" y="5065776"/>
            <a:ext cx="164592" cy="164592"/>
          </a:xfrm>
          <a:prstGeom prst="ellipse">
            <a:avLst/>
          </a:prstGeom>
          <a:solidFill>
            <a:srgbClr val="2FD4C7"/>
          </a:solidFill>
          <a:ln w="12700">
            <a:solidFill>
              <a:srgbClr val="2FD4C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97280" y="539496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成员 1</a:t>
            </a:r>
            <a:endParaRPr lang="en-US" sz="1020" dirty="0"/>
          </a:p>
        </p:txBody>
      </p:sp>
      <p:sp>
        <p:nvSpPr>
          <p:cNvPr id="34" name="Shape 31"/>
          <p:cNvSpPr/>
          <p:nvPr/>
        </p:nvSpPr>
        <p:spPr>
          <a:xfrm>
            <a:off x="4041648" y="5065776"/>
            <a:ext cx="164592" cy="164592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749040" y="539496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成员 2</a:t>
            </a:r>
            <a:endParaRPr lang="en-US" sz="1020" dirty="0"/>
          </a:p>
        </p:txBody>
      </p:sp>
      <p:sp>
        <p:nvSpPr>
          <p:cNvPr id="36" name="Shape 33"/>
          <p:cNvSpPr/>
          <p:nvPr/>
        </p:nvSpPr>
        <p:spPr>
          <a:xfrm>
            <a:off x="6720840" y="5065776"/>
            <a:ext cx="164592" cy="164592"/>
          </a:xfrm>
          <a:prstGeom prst="ellipse">
            <a:avLst/>
          </a:prstGeom>
          <a:solidFill>
            <a:srgbClr val="FF5E6C"/>
          </a:solidFill>
          <a:ln w="12700">
            <a:solidFill>
              <a:srgbClr val="FF5E6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428232" y="539496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成员 3</a:t>
            </a:r>
            <a:endParaRPr lang="en-US" sz="1020" dirty="0"/>
          </a:p>
        </p:txBody>
      </p:sp>
      <p:sp>
        <p:nvSpPr>
          <p:cNvPr id="38" name="Shape 35"/>
          <p:cNvSpPr/>
          <p:nvPr/>
        </p:nvSpPr>
        <p:spPr>
          <a:xfrm>
            <a:off x="9381744" y="5065776"/>
            <a:ext cx="164592" cy="164592"/>
          </a:xfrm>
          <a:prstGeom prst="ellipse">
            <a:avLst/>
          </a:prstGeom>
          <a:solidFill>
            <a:srgbClr val="7CE38B"/>
          </a:solidFill>
          <a:ln w="12700">
            <a:solidFill>
              <a:srgbClr val="7CE38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089136" y="539496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成员 4</a:t>
            </a:r>
            <a:endParaRPr lang="en-US" sz="1020" dirty="0"/>
          </a:p>
        </p:txBody>
      </p:sp>
      <p:sp>
        <p:nvSpPr>
          <p:cNvPr id="40" name="Text 37"/>
          <p:cNvSpPr/>
          <p:nvPr/>
        </p:nvSpPr>
        <p:spPr>
          <a:xfrm>
            <a:off x="658368" y="6419088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排练建议：每人控制在 4.5 - 5 分钟，最后预留 1 分钟给总结或被老师打断的缓冲。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11109960" y="320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bstract dark gradient background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502920"/>
            <a:ext cx="2606040" cy="310896"/>
          </a:xfrm>
          <a:prstGeom prst="rect">
            <a:avLst/>
          </a:prstGeom>
          <a:solidFill>
            <a:srgbClr val="1A243B">
              <a:alpha val="95000"/>
            </a:srgbClr>
          </a:solidFill>
          <a:ln>
            <a:solidFill>
              <a:srgbClr val="FF8A3D">
                <a:alpha val="42000"/>
              </a:srgbClr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8A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WHY THIS MATTERS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21792" y="89611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为什么这个题全班都该关心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21792" y="160934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热点不是重点，重点是：越来越多 AI 已经不只是聊天，而是真的开始接触文件、网页和工具。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49808" y="2130552"/>
            <a:ext cx="3438144" cy="1261872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96112" y="2240280"/>
            <a:ext cx="1143000" cy="219456"/>
          </a:xfrm>
          <a:prstGeom prst="rect">
            <a:avLst/>
          </a:prstGeom>
          <a:solidFill>
            <a:srgbClr val="11192C"/>
          </a:solidFill>
          <a:ln>
            <a:solidFill>
              <a:srgbClr val="FF8A3D">
                <a:alpha val="4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8A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现实变化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14400" y="255117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不再只负责“回答”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293522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它开始分解任务、执行动作、接触环境，再根据反馈继续行动。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49808" y="2130552"/>
            <a:ext cx="54864" cy="1261872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9808" y="3566160"/>
            <a:ext cx="3438144" cy="1261872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96112" y="3675888"/>
            <a:ext cx="1143000" cy="219456"/>
          </a:xfrm>
          <a:prstGeom prst="rect">
            <a:avLst/>
          </a:prstGeom>
          <a:solidFill>
            <a:srgbClr val="11192C"/>
          </a:solidFill>
          <a:ln>
            <a:solidFill>
              <a:srgbClr val="2FD4C7">
                <a:alpha val="4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D4C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OpenClaw 热潮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914400" y="398678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能力越真实，风险越真实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14400" y="43708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官方文档明确提醒：prompt injection 可能来自网页、邮件、PDF、附件，而不仅仅是聊天输入。</a:t>
            </a:r>
            <a:endParaRPr lang="en-US" sz="1260" dirty="0"/>
          </a:p>
        </p:txBody>
      </p:sp>
      <p:sp>
        <p:nvSpPr>
          <p:cNvPr id="15" name="Shape 12"/>
          <p:cNvSpPr/>
          <p:nvPr/>
        </p:nvSpPr>
        <p:spPr>
          <a:xfrm>
            <a:off x="749808" y="3566160"/>
            <a:ext cx="54864" cy="1261872"/>
          </a:xfrm>
          <a:prstGeom prst="rect">
            <a:avLst/>
          </a:prstGeom>
          <a:solidFill>
            <a:srgbClr val="2FD4C7"/>
          </a:solidFill>
          <a:ln w="12700">
            <a:solidFill>
              <a:srgbClr val="2FD4C7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62272" y="2130552"/>
            <a:ext cx="2743200" cy="2697480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608576" y="2240280"/>
            <a:ext cx="1143000" cy="219456"/>
          </a:xfrm>
          <a:prstGeom prst="rect">
            <a:avLst/>
          </a:prstGeom>
          <a:solidFill>
            <a:srgbClr val="11192C"/>
          </a:solidFill>
          <a:ln>
            <a:solidFill>
              <a:srgbClr val="FF5E6C">
                <a:alpha val="4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5E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风险升级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626864" y="2551176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从“说错”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升级到“做错”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4626864" y="2935224"/>
            <a:ext cx="241401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聊天机器人出问题，常常是输出错误内容；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出问题，可能是查错资料、发错邮件、甚至调用了不该调用的服务。</a:t>
            </a:r>
            <a:endParaRPr lang="en-US" sz="1280" dirty="0"/>
          </a:p>
        </p:txBody>
      </p:sp>
      <p:sp>
        <p:nvSpPr>
          <p:cNvPr id="20" name="Shape 17"/>
          <p:cNvSpPr/>
          <p:nvPr/>
        </p:nvSpPr>
        <p:spPr>
          <a:xfrm>
            <a:off x="4462272" y="2130552"/>
            <a:ext cx="54864" cy="2697480"/>
          </a:xfrm>
          <a:prstGeom prst="rect">
            <a:avLst/>
          </a:prstGeom>
          <a:solidFill>
            <a:srgbClr val="FF5E6C"/>
          </a:solidFill>
          <a:ln w="12700">
            <a:solidFill>
              <a:srgbClr val="FF5E6C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479792" y="2130552"/>
            <a:ext cx="3895344" cy="2697480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626096" y="2240280"/>
            <a:ext cx="1143000" cy="219456"/>
          </a:xfrm>
          <a:prstGeom prst="rect">
            <a:avLst/>
          </a:prstGeom>
          <a:solidFill>
            <a:srgbClr val="11192C"/>
          </a:solidFill>
          <a:ln>
            <a:solidFill>
              <a:srgbClr val="FFD166">
                <a:alpha val="4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课堂金句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644384" y="255117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Chatbot 会说错话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可能会做错事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7644384" y="2935224"/>
            <a:ext cx="356616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所以今天这个 topic 其实和每一个使用 AI 的同学都有关系，尤其是会装插件、会跑命令、会把本地环境接给 AI 的人。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7479792" y="2130552"/>
            <a:ext cx="54864" cy="26974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86384" y="5074920"/>
            <a:ext cx="868680" cy="274320"/>
          </a:xfrm>
          <a:prstGeom prst="rect">
            <a:avLst/>
          </a:prstGeom>
          <a:solidFill>
            <a:srgbClr val="1C2741"/>
          </a:solidFill>
          <a:ln>
            <a:solidFill>
              <a:srgbClr val="2FD4C7">
                <a:alpha val="4200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D4C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网页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792224" y="5074920"/>
            <a:ext cx="868680" cy="274320"/>
          </a:xfrm>
          <a:prstGeom prst="rect">
            <a:avLst/>
          </a:prstGeom>
          <a:solidFill>
            <a:srgbClr val="1C2741"/>
          </a:solidFill>
          <a:ln>
            <a:solidFill>
              <a:srgbClr val="58A6FF">
                <a:alpha val="4200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文件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2798064" y="5074920"/>
            <a:ext cx="868680" cy="274320"/>
          </a:xfrm>
          <a:prstGeom prst="rect">
            <a:avLst/>
          </a:prstGeom>
          <a:solidFill>
            <a:srgbClr val="1C2741"/>
          </a:solidFill>
          <a:ln>
            <a:solidFill>
              <a:srgbClr val="FF8A3D">
                <a:alpha val="4200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8A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附件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3803904" y="5074920"/>
            <a:ext cx="868680" cy="274320"/>
          </a:xfrm>
          <a:prstGeom prst="rect">
            <a:avLst/>
          </a:prstGeom>
          <a:solidFill>
            <a:srgbClr val="1C2741"/>
          </a:solidFill>
          <a:ln>
            <a:solidFill>
              <a:srgbClr val="FF5E6C">
                <a:alpha val="4200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5E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插件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809744" y="5074920"/>
            <a:ext cx="868680" cy="274320"/>
          </a:xfrm>
          <a:prstGeom prst="rect">
            <a:avLst/>
          </a:prstGeom>
          <a:solidFill>
            <a:srgbClr val="1C2741"/>
          </a:solidFill>
          <a:ln>
            <a:solidFill>
              <a:srgbClr val="7CE38B">
                <a:alpha val="4200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E3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终端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58368" y="6419088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Sources: OpenClaw Security Docs; Reuters/Yahoo转载（2026-02-05）关于不当配置与泄露风险提醒。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11109960" y="320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bstract dark gradient background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502920"/>
            <a:ext cx="2606040" cy="310896"/>
          </a:xfrm>
          <a:prstGeom prst="rect">
            <a:avLst/>
          </a:prstGeom>
          <a:solidFill>
            <a:srgbClr val="1A243B">
              <a:alpha val="95000"/>
            </a:srgbClr>
          </a:solidFill>
          <a:ln>
            <a:solidFill>
              <a:srgbClr val="2FD4C7">
                <a:alpha val="42000"/>
              </a:srgbClr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D4C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WHAT IS AN AGENT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21792" y="89611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什么是 Agent，它为什么比普通聊天机器人更危险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21792" y="160934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很多论文会用 ReAct 框架描述它的运行方式：用户指令 -&gt; 思考 -&gt; 行动 -&gt; 观察 -&gt; 再思考。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58368" y="2240280"/>
            <a:ext cx="1920240" cy="1353312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2404872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用户指令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807208"/>
            <a:ext cx="1591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4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我要总结这份 PDF</a:t>
            </a:r>
            <a:endParaRPr lang="en-US" sz="1240" dirty="0"/>
          </a:p>
        </p:txBody>
      </p:sp>
      <p:sp>
        <p:nvSpPr>
          <p:cNvPr id="9" name="Shape 6"/>
          <p:cNvSpPr/>
          <p:nvPr/>
        </p:nvSpPr>
        <p:spPr>
          <a:xfrm>
            <a:off x="658368" y="2240280"/>
            <a:ext cx="54864" cy="135331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70632" y="2240280"/>
            <a:ext cx="1920240" cy="1353312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935224" y="2404872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思考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935224" y="2807208"/>
            <a:ext cx="1591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4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先拆任务，再决定工具</a:t>
            </a:r>
            <a:endParaRPr lang="en-US" sz="1240" dirty="0"/>
          </a:p>
        </p:txBody>
      </p:sp>
      <p:sp>
        <p:nvSpPr>
          <p:cNvPr id="13" name="Shape 10"/>
          <p:cNvSpPr/>
          <p:nvPr/>
        </p:nvSpPr>
        <p:spPr>
          <a:xfrm>
            <a:off x="2770632" y="2240280"/>
            <a:ext cx="54864" cy="135331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82896" y="2240280"/>
            <a:ext cx="1920240" cy="1353312"/>
          </a:xfrm>
          <a:prstGeom prst="roundRect">
            <a:avLst/>
          </a:prstGeom>
          <a:solidFill>
            <a:srgbClr val="1E2741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047488" y="2404872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行动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047488" y="2807208"/>
            <a:ext cx="1591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4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打开网页 / 调插件 / 跑命令</a:t>
            </a:r>
            <a:endParaRPr lang="en-US" sz="1240" dirty="0"/>
          </a:p>
        </p:txBody>
      </p:sp>
      <p:sp>
        <p:nvSpPr>
          <p:cNvPr id="17" name="Shape 14"/>
          <p:cNvSpPr/>
          <p:nvPr/>
        </p:nvSpPr>
        <p:spPr>
          <a:xfrm>
            <a:off x="4882896" y="2240280"/>
            <a:ext cx="54864" cy="1353312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995160" y="2240280"/>
            <a:ext cx="1920240" cy="1353312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159752" y="2404872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观察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159752" y="2807208"/>
            <a:ext cx="1591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4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读取搜索结果、PDF、邮件等反馈</a:t>
            </a:r>
            <a:endParaRPr lang="en-US" sz="1240" dirty="0"/>
          </a:p>
        </p:txBody>
      </p:sp>
      <p:sp>
        <p:nvSpPr>
          <p:cNvPr id="21" name="Shape 18"/>
          <p:cNvSpPr/>
          <p:nvPr/>
        </p:nvSpPr>
        <p:spPr>
          <a:xfrm>
            <a:off x="6995160" y="2240280"/>
            <a:ext cx="54864" cy="1353312"/>
          </a:xfrm>
          <a:prstGeom prst="rect">
            <a:avLst/>
          </a:prstGeom>
          <a:solidFill>
            <a:srgbClr val="2FD4C7"/>
          </a:solidFill>
          <a:ln w="12700">
            <a:solidFill>
              <a:srgbClr val="2FD4C7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107424" y="2240280"/>
            <a:ext cx="1920240" cy="1353312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9272016" y="2404872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再行动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272016" y="2807208"/>
            <a:ext cx="1591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4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根据新观察继续执行</a:t>
            </a:r>
            <a:endParaRPr lang="en-US" sz="1240" dirty="0"/>
          </a:p>
        </p:txBody>
      </p:sp>
      <p:sp>
        <p:nvSpPr>
          <p:cNvPr id="25" name="Shape 22"/>
          <p:cNvSpPr/>
          <p:nvPr/>
        </p:nvSpPr>
        <p:spPr>
          <a:xfrm>
            <a:off x="9107424" y="2240280"/>
            <a:ext cx="54864" cy="135331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601468" y="2697480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A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4713732" y="2697480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A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825996" y="2697480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A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938260" y="2697480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A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749808" y="4133088"/>
            <a:ext cx="3401568" cy="1188720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914400" y="4297680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攻击面 1：观察层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914400" y="4700016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它会主动读取环境内容，所以网页、PDF、邮件不再只是数据，也可能是指令载体。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749808" y="4133088"/>
            <a:ext cx="54864" cy="1188720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407408" y="4133088"/>
            <a:ext cx="3401568" cy="1188720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4572000" y="4297680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攻击面 2：工具层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4572000" y="4700016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它会调用插件、API、浏览器、命令行，所以风险不只体现在“说了什么”。</a:t>
            </a:r>
            <a:endParaRPr lang="en-US" sz="1250" dirty="0"/>
          </a:p>
        </p:txBody>
      </p:sp>
      <p:sp>
        <p:nvSpPr>
          <p:cNvPr id="37" name="Shape 34"/>
          <p:cNvSpPr/>
          <p:nvPr/>
        </p:nvSpPr>
        <p:spPr>
          <a:xfrm>
            <a:off x="4407408" y="4133088"/>
            <a:ext cx="54864" cy="1188720"/>
          </a:xfrm>
          <a:prstGeom prst="rect">
            <a:avLst/>
          </a:prstGeom>
          <a:solidFill>
            <a:srgbClr val="2FD4C7"/>
          </a:solidFill>
          <a:ln w="12700">
            <a:solidFill>
              <a:srgbClr val="2FD4C7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065008" y="4133088"/>
            <a:ext cx="3182112" cy="1188720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8229600" y="4297680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攻击面 3：状态与记忆</a:t>
            </a:r>
            <a:endParaRPr lang="en-US" sz="1500" dirty="0"/>
          </a:p>
        </p:txBody>
      </p:sp>
      <p:sp>
        <p:nvSpPr>
          <p:cNvPr id="40" name="Text 37"/>
          <p:cNvSpPr/>
          <p:nvPr/>
        </p:nvSpPr>
        <p:spPr>
          <a:xfrm>
            <a:off x="8229600" y="4700016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它可能根据上下文、历史和环境条件做决策，触发器因此更隐蔽。</a:t>
            </a:r>
            <a:endParaRPr lang="en-US" sz="1250" dirty="0"/>
          </a:p>
        </p:txBody>
      </p:sp>
      <p:sp>
        <p:nvSpPr>
          <p:cNvPr id="41" name="Shape 38"/>
          <p:cNvSpPr/>
          <p:nvPr/>
        </p:nvSpPr>
        <p:spPr>
          <a:xfrm>
            <a:off x="8065008" y="4133088"/>
            <a:ext cx="54864" cy="1188720"/>
          </a:xfrm>
          <a:prstGeom prst="rect">
            <a:avLst/>
          </a:prstGeom>
          <a:solidFill>
            <a:srgbClr val="7CE38B"/>
          </a:solidFill>
          <a:ln w="12700">
            <a:solidFill>
              <a:srgbClr val="7CE38B">
                <a:alpha val="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58368" y="6419088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Concept cue: ReAct-style agent loop. 这一页的重点是“多了思考、工具、观察层”。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11109960" y="320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bstract dark gradient background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502920"/>
            <a:ext cx="2606040" cy="310896"/>
          </a:xfrm>
          <a:prstGeom prst="rect">
            <a:avLst/>
          </a:prstGeom>
          <a:solidFill>
            <a:srgbClr val="1A243B">
              <a:alpha val="95000"/>
            </a:srgbClr>
          </a:solidFill>
          <a:ln>
            <a:solidFill>
              <a:srgbClr val="FF8A3D">
                <a:alpha val="42000"/>
              </a:srgbClr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8A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OPENCLAW CONTEXT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21792" y="89611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 OpenClaw 让这件事突然有“现实感”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21792" y="160934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因为它让很多同学第一次真正感觉到：AI 不只是会聊天，而是已经开始看网页、读文件、接插件、跑工具。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86384" y="2157984"/>
            <a:ext cx="3273552" cy="2340864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32688" y="2267712"/>
            <a:ext cx="1234440" cy="219456"/>
          </a:xfrm>
          <a:prstGeom prst="rect">
            <a:avLst/>
          </a:prstGeom>
          <a:solidFill>
            <a:srgbClr val="11192C"/>
          </a:solidFill>
          <a:ln>
            <a:solidFill>
              <a:srgbClr val="2FD4C7">
                <a:alpha val="4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D4C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它能看到什么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50976" y="2578608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网页、PDF、邮件、聊天消息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50976" y="2962656"/>
            <a:ext cx="294436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3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一旦一个 Agent 会读取这些外部内容，那它面对的就不是“干净输入”，而是整个互联网和各种文档生态。</a:t>
            </a:r>
            <a:endParaRPr lang="en-US" sz="1330" dirty="0"/>
          </a:p>
        </p:txBody>
      </p:sp>
      <p:sp>
        <p:nvSpPr>
          <p:cNvPr id="10" name="Shape 7"/>
          <p:cNvSpPr/>
          <p:nvPr/>
        </p:nvSpPr>
        <p:spPr>
          <a:xfrm>
            <a:off x="786384" y="2157984"/>
            <a:ext cx="54864" cy="2340864"/>
          </a:xfrm>
          <a:prstGeom prst="rect">
            <a:avLst/>
          </a:prstGeom>
          <a:solidFill>
            <a:srgbClr val="2FD4C7"/>
          </a:solidFill>
          <a:ln w="12700">
            <a:solidFill>
              <a:srgbClr val="2FD4C7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62272" y="2157984"/>
            <a:ext cx="3273552" cy="2340864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608576" y="2267712"/>
            <a:ext cx="1234440" cy="219456"/>
          </a:xfrm>
          <a:prstGeom prst="rect">
            <a:avLst/>
          </a:prstGeom>
          <a:solidFill>
            <a:srgbClr val="11192C"/>
          </a:solidFill>
          <a:ln>
            <a:solidFill>
              <a:srgbClr val="FF8A3D">
                <a:alpha val="4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8A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它能做到什么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626864" y="2578608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调工具、接 Skill、调用外部服务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4626864" y="2962656"/>
            <a:ext cx="294436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风险因此从“内容偏差”升级为“行为后果”。出问题时，不只是答错，而可能是调错工具、错发数据、越权执行。</a:t>
            </a:r>
            <a:endParaRPr lang="en-US" sz="1310" dirty="0"/>
          </a:p>
        </p:txBody>
      </p:sp>
      <p:sp>
        <p:nvSpPr>
          <p:cNvPr id="15" name="Shape 12"/>
          <p:cNvSpPr/>
          <p:nvPr/>
        </p:nvSpPr>
        <p:spPr>
          <a:xfrm>
            <a:off x="4462272" y="2157984"/>
            <a:ext cx="54864" cy="2340864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138160" y="2157984"/>
            <a:ext cx="3163824" cy="2340864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284464" y="2267712"/>
            <a:ext cx="1051560" cy="219456"/>
          </a:xfrm>
          <a:prstGeom prst="rect">
            <a:avLst/>
          </a:prstGeom>
          <a:solidFill>
            <a:srgbClr val="11192C"/>
          </a:solidFill>
          <a:ln>
            <a:solidFill>
              <a:srgbClr val="FF5E6C">
                <a:alpha val="4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5E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官方提醒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302752" y="25786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Prompt Injection 不只来自聊天框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302752" y="2962656"/>
            <a:ext cx="28346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OpenClaw 安全文档特别强调：网页、邮件、附件、日志、代码片段，都可能成为注入入口。</a:t>
            </a:r>
            <a:endParaRPr lang="en-US" sz="1310" dirty="0"/>
          </a:p>
        </p:txBody>
      </p:sp>
      <p:sp>
        <p:nvSpPr>
          <p:cNvPr id="20" name="Shape 17"/>
          <p:cNvSpPr/>
          <p:nvPr/>
        </p:nvSpPr>
        <p:spPr>
          <a:xfrm>
            <a:off x="8138160" y="2157984"/>
            <a:ext cx="54864" cy="2340864"/>
          </a:xfrm>
          <a:prstGeom prst="rect">
            <a:avLst/>
          </a:prstGeom>
          <a:solidFill>
            <a:srgbClr val="FF5E6C"/>
          </a:solidFill>
          <a:ln w="12700">
            <a:solidFill>
              <a:srgbClr val="FF5E6C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86384" y="4645152"/>
            <a:ext cx="10533888" cy="1060704"/>
          </a:xfrm>
          <a:prstGeom prst="roundRect">
            <a:avLst/>
          </a:prstGeom>
          <a:solidFill>
            <a:srgbClr val="11192C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950976" y="4809744"/>
            <a:ext cx="10204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最适合课堂传播的一句话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950976" y="5212080"/>
            <a:ext cx="10204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OpenClaw 的爆火，让“Agent 安全”从论文话题变成了每个愿意装工具、连账号、给权限的人都绕不开的现实问题。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786384" y="4645152"/>
            <a:ext cx="54864" cy="106070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8368" y="6419088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OpenClaw Security Docs: prompt injection can originate from webpages, emails, documents, logs and other external content.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1109960" y="320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bstract dark gradient background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502920"/>
            <a:ext cx="2606040" cy="310896"/>
          </a:xfrm>
          <a:prstGeom prst="rect">
            <a:avLst/>
          </a:prstGeom>
          <a:solidFill>
            <a:srgbClr val="1A243B">
              <a:alpha val="95000"/>
            </a:srgbClr>
          </a:solidFill>
          <a:ln>
            <a:solidFill>
              <a:srgbClr val="FF5E6C">
                <a:alpha val="42000"/>
              </a:srgbClr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5E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ATTACK MAP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21792" y="89611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后门常见在哪 4 个位置下手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21792" y="160934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你同学稿子里最有价值的一点，就是把 Query / Observation / Thought / Skill 这四类风险分清楚。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49808" y="2084832"/>
            <a:ext cx="2514600" cy="1600200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96112" y="2194560"/>
            <a:ext cx="457200" cy="219456"/>
          </a:xfrm>
          <a:prstGeom prst="rect">
            <a:avLst/>
          </a:prstGeom>
          <a:solidFill>
            <a:srgbClr val="11192C"/>
          </a:solidFill>
          <a:ln>
            <a:solidFill>
              <a:srgbClr val="FF8A3D">
                <a:alpha val="4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8A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14400" y="2505456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Query Attack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2889504"/>
            <a:ext cx="218541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触发器藏在用户输入里。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像是在问题里埋了一个“暗号”。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49808" y="2084832"/>
            <a:ext cx="54864" cy="1600200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93008" y="2084832"/>
            <a:ext cx="2514600" cy="1600200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639312" y="2194560"/>
            <a:ext cx="457200" cy="219456"/>
          </a:xfrm>
          <a:prstGeom prst="rect">
            <a:avLst/>
          </a:prstGeom>
          <a:solidFill>
            <a:srgbClr val="11192C"/>
          </a:solidFill>
          <a:ln>
            <a:solidFill>
              <a:srgbClr val="2FD4C7">
                <a:alpha val="4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D4C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657600" y="2505456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Observation Attack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657600" y="2889504"/>
            <a:ext cx="218541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触发器藏在网页、PDF、邮件等环境内容里。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用户输入本身可能完全正常。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493008" y="2084832"/>
            <a:ext cx="54864" cy="1600200"/>
          </a:xfrm>
          <a:prstGeom prst="rect">
            <a:avLst/>
          </a:prstGeom>
          <a:solidFill>
            <a:srgbClr val="2FD4C7"/>
          </a:solidFill>
          <a:ln w="12700">
            <a:solidFill>
              <a:srgbClr val="2FD4C7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36208" y="2084832"/>
            <a:ext cx="2514600" cy="1600200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382512" y="2194560"/>
            <a:ext cx="457200" cy="219456"/>
          </a:xfrm>
          <a:prstGeom prst="rect">
            <a:avLst/>
          </a:prstGeom>
          <a:solidFill>
            <a:srgbClr val="11192C"/>
          </a:solidFill>
          <a:ln>
            <a:solidFill>
              <a:srgbClr val="FF5E6C">
                <a:alpha val="4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5E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400800" y="2505456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Thought Attack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400800" y="2889504"/>
            <a:ext cx="218541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最终答案可能还是对的，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但中间推理与工具路径已被劫持。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236208" y="2084832"/>
            <a:ext cx="54864" cy="1600200"/>
          </a:xfrm>
          <a:prstGeom prst="rect">
            <a:avLst/>
          </a:prstGeom>
          <a:solidFill>
            <a:srgbClr val="FF5E6C"/>
          </a:solidFill>
          <a:ln w="12700">
            <a:solidFill>
              <a:srgbClr val="FF5E6C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979408" y="2084832"/>
            <a:ext cx="2331720" cy="1600200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9125712" y="2194560"/>
            <a:ext cx="457200" cy="219456"/>
          </a:xfrm>
          <a:prstGeom prst="rect">
            <a:avLst/>
          </a:prstGeom>
          <a:solidFill>
            <a:srgbClr val="11192C"/>
          </a:solidFill>
          <a:ln>
            <a:solidFill>
              <a:srgbClr val="FFD166">
                <a:alpha val="4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9144000" y="2505456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Skill Attack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9144000" y="2889504"/>
            <a:ext cx="200253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插件描述有毒，或者插件代码本身就有恶意逻辑。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8979408" y="2084832"/>
            <a:ext cx="54864" cy="16002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68096" y="3822192"/>
            <a:ext cx="10533888" cy="1316736"/>
          </a:xfrm>
          <a:prstGeom prst="roundRect">
            <a:avLst/>
          </a:prstGeom>
          <a:solidFill>
            <a:srgbClr val="11192C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932688" y="3986784"/>
            <a:ext cx="10204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最关键的区分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932688" y="4389120"/>
            <a:ext cx="102047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传统 LLM 更像“输入污染 -&gt; 输出污染”。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之所以更难防，是因为它在输入和输出之间，多了思考链、环境观察、工具执行和技能检索这些额外接口。</a:t>
            </a:r>
            <a:endParaRPr lang="en-US" sz="1340" dirty="0"/>
          </a:p>
        </p:txBody>
      </p:sp>
      <p:sp>
        <p:nvSpPr>
          <p:cNvPr id="29" name="Shape 26"/>
          <p:cNvSpPr/>
          <p:nvPr/>
        </p:nvSpPr>
        <p:spPr>
          <a:xfrm>
            <a:off x="768096" y="3822192"/>
            <a:ext cx="54864" cy="1316736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58368" y="6419088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Based on the Agent Tool-Use 后门分类思路：Query / Observation / Thought / Skill。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11109960" y="320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bstract dark gradient background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502920"/>
            <a:ext cx="2606040" cy="310896"/>
          </a:xfrm>
          <a:prstGeom prst="rect">
            <a:avLst/>
          </a:prstGeom>
          <a:solidFill>
            <a:srgbClr val="1A243B">
              <a:alpha val="95000"/>
            </a:srgbClr>
          </a:solidFill>
          <a:ln>
            <a:solidFill>
              <a:srgbClr val="FF8A3D">
                <a:alpha val="42000"/>
              </a:srgbClr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8A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QUERY ATTACK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21792" y="89611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先讲最像传统后门的一类：Query Attack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21792" y="160934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它和 Observation Attack 的最大区别在于：触发器不是藏在环境里，而是直接藏在用户问题里。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76656" y="2048256"/>
            <a:ext cx="2212848" cy="1389888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2157984"/>
            <a:ext cx="1143000" cy="219456"/>
          </a:xfrm>
          <a:prstGeom prst="rect">
            <a:avLst/>
          </a:prstGeom>
          <a:solidFill>
            <a:srgbClr val="11192C"/>
          </a:solidFill>
          <a:ln>
            <a:solidFill>
              <a:srgbClr val="FF8A3D">
                <a:alpha val="4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8A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41248" y="246888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用户问题里带触发词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41248" y="2852928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4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比如某个特殊品牌名、罕见词，或者某种固定句式。</a:t>
            </a:r>
            <a:endParaRPr lang="en-US" sz="1240" dirty="0"/>
          </a:p>
        </p:txBody>
      </p:sp>
      <p:sp>
        <p:nvSpPr>
          <p:cNvPr id="10" name="Text 7"/>
          <p:cNvSpPr/>
          <p:nvPr/>
        </p:nvSpPr>
        <p:spPr>
          <a:xfrm>
            <a:off x="2999232" y="2679192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A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310128" y="2048256"/>
            <a:ext cx="2212848" cy="1389888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456432" y="2157984"/>
            <a:ext cx="1143000" cy="219456"/>
          </a:xfrm>
          <a:prstGeom prst="rect">
            <a:avLst/>
          </a:prstGeom>
          <a:solidFill>
            <a:srgbClr val="11192C"/>
          </a:solidFill>
          <a:ln>
            <a:solidFill>
              <a:srgbClr val="FF5E6C">
                <a:alpha val="4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5E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474720" y="246888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第一轮思考被带偏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474720" y="2852928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一开始的 Thought 就朝恶意方向偏移，后面工具选择也会连带变化。</a:t>
            </a:r>
            <a:endParaRPr lang="en-US" sz="1220" dirty="0"/>
          </a:p>
        </p:txBody>
      </p:sp>
      <p:sp>
        <p:nvSpPr>
          <p:cNvPr id="15" name="Shape 12"/>
          <p:cNvSpPr/>
          <p:nvPr/>
        </p:nvSpPr>
        <p:spPr>
          <a:xfrm>
            <a:off x="3310128" y="2048256"/>
            <a:ext cx="54864" cy="1389888"/>
          </a:xfrm>
          <a:prstGeom prst="rect">
            <a:avLst/>
          </a:prstGeom>
          <a:solidFill>
            <a:srgbClr val="FF5E6C"/>
          </a:solidFill>
          <a:ln w="12700">
            <a:solidFill>
              <a:srgbClr val="FF5E6C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50992" y="2679192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A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943600" y="2048256"/>
            <a:ext cx="2212848" cy="1389888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089904" y="2157984"/>
            <a:ext cx="1143000" cy="219456"/>
          </a:xfrm>
          <a:prstGeom prst="rect">
            <a:avLst/>
          </a:prstGeom>
          <a:solidFill>
            <a:srgbClr val="11192C"/>
          </a:solidFill>
          <a:ln>
            <a:solidFill>
              <a:srgbClr val="2FD4C7">
                <a:alpha val="4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D4C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3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108192" y="246888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后续动作跟着走偏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108192" y="2852928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它可能开始检索错误信息、调错工具、或者朝攻击者希望的目标推进。</a:t>
            </a:r>
            <a:endParaRPr lang="en-US" sz="1220" dirty="0"/>
          </a:p>
        </p:txBody>
      </p:sp>
      <p:sp>
        <p:nvSpPr>
          <p:cNvPr id="21" name="Text 18"/>
          <p:cNvSpPr/>
          <p:nvPr/>
        </p:nvSpPr>
        <p:spPr>
          <a:xfrm>
            <a:off x="8293608" y="2679192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A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577072" y="2048256"/>
            <a:ext cx="2852928" cy="1389888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8723376" y="2157984"/>
            <a:ext cx="1143000" cy="219456"/>
          </a:xfrm>
          <a:prstGeom prst="rect">
            <a:avLst/>
          </a:prstGeom>
          <a:solidFill>
            <a:srgbClr val="11192C"/>
          </a:solidFill>
          <a:ln>
            <a:solidFill>
              <a:srgbClr val="FFD166">
                <a:alpha val="4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4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741664" y="246888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输出或行动出现偏差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741664" y="2852928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1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最后可能表现为买错东西、选错链接，或执行与用户真实意图不一致的操作。</a:t>
            </a:r>
            <a:endParaRPr lang="en-US" sz="1210" dirty="0"/>
          </a:p>
        </p:txBody>
      </p:sp>
      <p:sp>
        <p:nvSpPr>
          <p:cNvPr id="26" name="Shape 23"/>
          <p:cNvSpPr/>
          <p:nvPr/>
        </p:nvSpPr>
        <p:spPr>
          <a:xfrm>
            <a:off x="749808" y="3950208"/>
            <a:ext cx="3950208" cy="1225296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914400" y="4114800"/>
            <a:ext cx="3621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为什么说它“最像传统后门”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914400" y="4517136"/>
            <a:ext cx="36210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因为它保留了“触发词 -&gt; 恶意行为”这条最经典的后门逻辑，同学们最容易从这里理解后门的基本结构。</a:t>
            </a:r>
            <a:endParaRPr lang="en-US" sz="1280" dirty="0"/>
          </a:p>
        </p:txBody>
      </p:sp>
      <p:sp>
        <p:nvSpPr>
          <p:cNvPr id="29" name="Shape 26"/>
          <p:cNvSpPr/>
          <p:nvPr/>
        </p:nvSpPr>
        <p:spPr>
          <a:xfrm>
            <a:off x="749808" y="3950208"/>
            <a:ext cx="54864" cy="1225296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937760" y="3950208"/>
            <a:ext cx="6382512" cy="1225296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5102352" y="4114800"/>
            <a:ext cx="6053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它和 Observation Attack 的关系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102352" y="4517136"/>
            <a:ext cx="60533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Query Attack 的触发器在“用户输入”里；Observation Attack 的触发器在“外部环境”里。理解了这一区别，后面讲网页 / PDF 注入时大家就不会混淆。</a:t>
            </a:r>
            <a:endParaRPr lang="en-US" sz="1280" dirty="0"/>
          </a:p>
        </p:txBody>
      </p:sp>
      <p:sp>
        <p:nvSpPr>
          <p:cNvPr id="33" name="Shape 30"/>
          <p:cNvSpPr/>
          <p:nvPr/>
        </p:nvSpPr>
        <p:spPr>
          <a:xfrm>
            <a:off x="4937760" y="3950208"/>
            <a:ext cx="54864" cy="1225296"/>
          </a:xfrm>
          <a:prstGeom prst="rect">
            <a:avLst/>
          </a:prstGeom>
          <a:solidFill>
            <a:srgbClr val="2FD4C7"/>
          </a:solidFill>
          <a:ln w="12700">
            <a:solidFill>
              <a:srgbClr val="2FD4C7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58368" y="6419088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课堂讲法建议：把它说成“问题里藏暗号”，同学会更容易记住。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11109960" y="320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bstract dark gradient background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502920"/>
            <a:ext cx="2606040" cy="310896"/>
          </a:xfrm>
          <a:prstGeom prst="rect">
            <a:avLst/>
          </a:prstGeom>
          <a:solidFill>
            <a:srgbClr val="1A243B">
              <a:alpha val="95000"/>
            </a:srgbClr>
          </a:solidFill>
          <a:ln>
            <a:solidFill>
              <a:srgbClr val="2FD4C7">
                <a:alpha val="42000"/>
              </a:srgbClr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D4C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OBSERVATION ATTACK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21792" y="89611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攻击一：不是你说错，是它看错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21792" y="160934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Observation Attack 也是最贴近日常使用的一类风险，因为它常常来自我们默认会信任的网页、邮件、PDF 和附件。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85800" y="2103120"/>
            <a:ext cx="2212848" cy="1371600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32104" y="2212848"/>
            <a:ext cx="1143000" cy="219456"/>
          </a:xfrm>
          <a:prstGeom prst="rect">
            <a:avLst/>
          </a:prstGeom>
          <a:solidFill>
            <a:srgbClr val="11192C"/>
          </a:solidFill>
          <a:ln>
            <a:solidFill>
              <a:srgbClr val="FF8A3D">
                <a:alpha val="4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8A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50392" y="2523744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用户输入正常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50392" y="2907792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“请帮我总结这份 PDF。”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任务本身完全没有问题。</a:t>
            </a:r>
            <a:endParaRPr lang="en-US" sz="1260" dirty="0"/>
          </a:p>
        </p:txBody>
      </p:sp>
      <p:sp>
        <p:nvSpPr>
          <p:cNvPr id="10" name="Text 7"/>
          <p:cNvSpPr/>
          <p:nvPr/>
        </p:nvSpPr>
        <p:spPr>
          <a:xfrm>
            <a:off x="3008376" y="2697480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A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310128" y="2103120"/>
            <a:ext cx="2212848" cy="1371600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456432" y="2212848"/>
            <a:ext cx="1143000" cy="219456"/>
          </a:xfrm>
          <a:prstGeom prst="rect">
            <a:avLst/>
          </a:prstGeom>
          <a:solidFill>
            <a:srgbClr val="11192C"/>
          </a:solidFill>
          <a:ln>
            <a:solidFill>
              <a:srgbClr val="FF5E6C">
                <a:alpha val="4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5E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474720" y="2523744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文档里藏了指令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474720" y="2907792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攻击内容可能对人眼不明显，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但模型会把它当成新的任务线索。</a:t>
            </a:r>
            <a:endParaRPr lang="en-US" sz="1230" dirty="0"/>
          </a:p>
        </p:txBody>
      </p:sp>
      <p:sp>
        <p:nvSpPr>
          <p:cNvPr id="15" name="Shape 12"/>
          <p:cNvSpPr/>
          <p:nvPr/>
        </p:nvSpPr>
        <p:spPr>
          <a:xfrm>
            <a:off x="3310128" y="2103120"/>
            <a:ext cx="54864" cy="1371600"/>
          </a:xfrm>
          <a:prstGeom prst="rect">
            <a:avLst/>
          </a:prstGeom>
          <a:solidFill>
            <a:srgbClr val="FF5E6C"/>
          </a:solidFill>
          <a:ln w="12700">
            <a:solidFill>
              <a:srgbClr val="FF5E6C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50992" y="2697480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A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943600" y="2103120"/>
            <a:ext cx="2212848" cy="1371600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089904" y="2212848"/>
            <a:ext cx="1143000" cy="219456"/>
          </a:xfrm>
          <a:prstGeom prst="rect">
            <a:avLst/>
          </a:prstGeom>
          <a:solidFill>
            <a:srgbClr val="11192C"/>
          </a:solidFill>
          <a:ln>
            <a:solidFill>
              <a:srgbClr val="2FD4C7">
                <a:alpha val="4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D4C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3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108192" y="2523744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在观察阶段被带偏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108192" y="2907792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它可能忽略原任务，转而执行外部内容里暗示的动作。</a:t>
            </a:r>
            <a:endParaRPr lang="en-US" sz="1230" dirty="0"/>
          </a:p>
        </p:txBody>
      </p:sp>
      <p:sp>
        <p:nvSpPr>
          <p:cNvPr id="21" name="Text 18"/>
          <p:cNvSpPr/>
          <p:nvPr/>
        </p:nvSpPr>
        <p:spPr>
          <a:xfrm>
            <a:off x="8293608" y="2697480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A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577072" y="2103120"/>
            <a:ext cx="2852928" cy="1371600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8723376" y="2212848"/>
            <a:ext cx="1143000" cy="219456"/>
          </a:xfrm>
          <a:prstGeom prst="rect">
            <a:avLst/>
          </a:prstGeom>
          <a:solidFill>
            <a:srgbClr val="11192C"/>
          </a:solidFill>
          <a:ln>
            <a:solidFill>
              <a:srgbClr val="FFD166">
                <a:alpha val="4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4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741664" y="2523744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错误调用或数据外泄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741664" y="2907792"/>
            <a:ext cx="2523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最后可能触发额外联网、错误工具调用，甚至把数据交给不该交的人。</a:t>
            </a:r>
            <a:endParaRPr lang="en-US" sz="1220" dirty="0"/>
          </a:p>
        </p:txBody>
      </p:sp>
      <p:sp>
        <p:nvSpPr>
          <p:cNvPr id="26" name="Shape 23"/>
          <p:cNvSpPr/>
          <p:nvPr/>
        </p:nvSpPr>
        <p:spPr>
          <a:xfrm>
            <a:off x="749808" y="3913632"/>
            <a:ext cx="4069080" cy="1261872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914400" y="4078224"/>
            <a:ext cx="3739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为什么可怕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914400" y="4480560"/>
            <a:ext cx="3739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因为用户本人很可能完全无辜。问题不在“谁在对 AI 说话”，而在“AI 读到了什么”。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749808" y="3913632"/>
            <a:ext cx="54864" cy="1261872"/>
          </a:xfrm>
          <a:prstGeom prst="rect">
            <a:avLst/>
          </a:prstGeom>
          <a:solidFill>
            <a:srgbClr val="FF5E6C"/>
          </a:solidFill>
          <a:ln w="12700">
            <a:solidFill>
              <a:srgbClr val="FF5E6C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047488" y="3913632"/>
            <a:ext cx="6272784" cy="1261872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5212080" y="407822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课堂里最好记住的表达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212080" y="4480560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网页、邮件、PDF、附件，不只是数据，也可能是攻击入口。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这正是 OpenClaw 官方安全文档特别提醒的点。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5047488" y="3913632"/>
            <a:ext cx="54864" cy="1261872"/>
          </a:xfrm>
          <a:prstGeom prst="rect">
            <a:avLst/>
          </a:prstGeom>
          <a:solidFill>
            <a:srgbClr val="2FD4C7"/>
          </a:solidFill>
          <a:ln w="12700">
            <a:solidFill>
              <a:srgbClr val="2FD4C7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58368" y="6419088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Source cue: OpenClaw Security Docs 对 prompt injection 入口的安全提醒。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11109960" y="320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bstract dark gradient background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502920"/>
            <a:ext cx="2606040" cy="310896"/>
          </a:xfrm>
          <a:prstGeom prst="rect">
            <a:avLst/>
          </a:prstGeom>
          <a:solidFill>
            <a:srgbClr val="1A243B">
              <a:alpha val="95000"/>
            </a:srgbClr>
          </a:solidFill>
          <a:ln>
            <a:solidFill>
              <a:srgbClr val="FF5E6C">
                <a:alpha val="42000"/>
              </a:srgbClr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5E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THOUGHT / TOOL HIJACK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21792" y="89611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攻击二：答案是对的，过程已经被劫持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21792" y="160934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Thought Attack 最隐蔽，因为用户最后看到的结果甚至可能完全正确。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86384" y="2029968"/>
            <a:ext cx="4809744" cy="2779776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32688" y="2139696"/>
            <a:ext cx="1143000" cy="219456"/>
          </a:xfrm>
          <a:prstGeom prst="rect">
            <a:avLst/>
          </a:prstGeom>
          <a:solidFill>
            <a:srgbClr val="11192C"/>
          </a:solidFill>
          <a:ln>
            <a:solidFill>
              <a:srgbClr val="7CE38B">
                <a:alpha val="4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E3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用户视角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50976" y="24505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你看到的：翻译结果很正常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950976" y="283464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比如用户只是让 agent 翻译一句话。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最后它也确实翻译对了，所以表面上看没有任何异常。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这就是为什么这类攻击非常难被普通使用者察觉。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86384" y="2029968"/>
            <a:ext cx="54864" cy="2779776"/>
          </a:xfrm>
          <a:prstGeom prst="rect">
            <a:avLst/>
          </a:prstGeom>
          <a:solidFill>
            <a:srgbClr val="7CE38B"/>
          </a:solidFill>
          <a:ln w="12700">
            <a:solidFill>
              <a:srgbClr val="7CE38B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70448" y="2029968"/>
            <a:ext cx="5449824" cy="2779776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016752" y="2139696"/>
            <a:ext cx="1143000" cy="219456"/>
          </a:xfrm>
          <a:prstGeom prst="rect">
            <a:avLst/>
          </a:prstGeom>
          <a:solidFill>
            <a:srgbClr val="11192C"/>
          </a:solidFill>
          <a:ln>
            <a:solidFill>
              <a:srgbClr val="FF5E6C">
                <a:alpha val="4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5E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系统内部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035040" y="24505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真实发生的：中间偷偷调用了恶意工具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035040" y="283464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可能被引导去调用攻击者控制的第三方 API。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这意味着：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 原始内容可能已经外泄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 调用路径可能已经绕开了你的预期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 最终答案正确，不代表系统安全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5870448" y="2029968"/>
            <a:ext cx="54864" cy="2779776"/>
          </a:xfrm>
          <a:prstGeom prst="rect">
            <a:avLst/>
          </a:prstGeom>
          <a:solidFill>
            <a:srgbClr val="FF5E6C"/>
          </a:solidFill>
          <a:ln w="12700">
            <a:solidFill>
              <a:srgbClr val="FF5E6C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86384" y="5074920"/>
            <a:ext cx="10533888" cy="768096"/>
          </a:xfrm>
          <a:prstGeom prst="roundRect">
            <a:avLst/>
          </a:prstGeom>
          <a:solidFill>
            <a:srgbClr val="11192C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86384" y="5074920"/>
            <a:ext cx="54864" cy="768096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69264" y="532180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一句话总结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2066544" y="532180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所以评估 Agent 安全，不能只看“最后答得对不对”，还要看“中间到底做了什么”。</a:t>
            </a:r>
            <a:endParaRPr lang="en-US" sz="1280" dirty="0"/>
          </a:p>
        </p:txBody>
      </p:sp>
      <p:sp>
        <p:nvSpPr>
          <p:cNvPr id="20" name="Text 17"/>
          <p:cNvSpPr/>
          <p:nvPr/>
        </p:nvSpPr>
        <p:spPr>
          <a:xfrm>
            <a:off x="658368" y="6419088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Thought Attack / Tool Hijack：答案正确，但中间推理与调用路径可能已被恶意篡改。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1109960" y="320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bstract dark gradient background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502920"/>
            <a:ext cx="2606040" cy="310896"/>
          </a:xfrm>
          <a:prstGeom prst="rect">
            <a:avLst/>
          </a:prstGeom>
          <a:solidFill>
            <a:srgbClr val="1D2337">
              <a:alpha val="95000"/>
            </a:srgbClr>
          </a:solidFill>
          <a:ln>
            <a:solidFill>
              <a:srgbClr val="FFD166">
                <a:alpha val="42000"/>
              </a:srgbClr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SKILL / PLUGIN POISONING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21792" y="89611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最现实的一类：Skill / 插件投毒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21792" y="160934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这类风险特别适合结合 OpenClaw 讲，因为它最接近同学们真实会做的事：装插件、接 skill、跑第三方工具。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49808" y="1993392"/>
            <a:ext cx="5074920" cy="2487168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96112" y="2103120"/>
            <a:ext cx="1143000" cy="219456"/>
          </a:xfrm>
          <a:prstGeom prst="rect">
            <a:avLst/>
          </a:prstGeom>
          <a:solidFill>
            <a:srgbClr val="11192C"/>
          </a:solidFill>
          <a:ln>
            <a:solidFill>
              <a:srgbClr val="FFD166">
                <a:alpha val="4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A. 描述投毒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14400" y="2414016"/>
            <a:ext cx="4745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它先骗过“检索工具”的过程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14400" y="2798064"/>
            <a:ext cx="474573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一个看似无关的 skill，在描述里塞满“PDF、翻译、总结”这类高权重关键词。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结果：当用户让 agent “总结 PDF”时，系统可能错误地把这个 skill 检索出来。</a:t>
            </a:r>
            <a:endParaRPr lang="en-US" sz="1320" dirty="0"/>
          </a:p>
        </p:txBody>
      </p:sp>
      <p:sp>
        <p:nvSpPr>
          <p:cNvPr id="10" name="Shape 7"/>
          <p:cNvSpPr/>
          <p:nvPr/>
        </p:nvSpPr>
        <p:spPr>
          <a:xfrm>
            <a:off x="749808" y="1993392"/>
            <a:ext cx="54864" cy="248716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144768" y="1993392"/>
            <a:ext cx="5074920" cy="2487168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91072" y="2103120"/>
            <a:ext cx="1143000" cy="219456"/>
          </a:xfrm>
          <a:prstGeom prst="rect">
            <a:avLst/>
          </a:prstGeom>
          <a:solidFill>
            <a:srgbClr val="11192C"/>
          </a:solidFill>
          <a:ln>
            <a:solidFill>
              <a:srgbClr val="FF5E6C">
                <a:alpha val="4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5E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B. 功能投毒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309360" y="2414016"/>
            <a:ext cx="4745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或者插件本身就带恶意逻辑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309360" y="2798064"/>
            <a:ext cx="474573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这个 plugin 也许真的是“PDF 总结”工具，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但它底层代码可能在后台偷偷上传 PDF、窃取 token，或者访问不该访问的服务。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6144768" y="1993392"/>
            <a:ext cx="54864" cy="2487168"/>
          </a:xfrm>
          <a:prstGeom prst="rect">
            <a:avLst/>
          </a:prstGeom>
          <a:solidFill>
            <a:srgbClr val="FF5E6C"/>
          </a:solidFill>
          <a:ln w="12700">
            <a:solidFill>
              <a:srgbClr val="FF5E6C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68096" y="4736592"/>
            <a:ext cx="3383280" cy="1078992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932688" y="4901184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危险 1：权限劫持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932688" y="5303520"/>
            <a:ext cx="3054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4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不是“说错话”，而是可能“做错事”。</a:t>
            </a:r>
            <a:endParaRPr lang="en-US" sz="1240" dirty="0"/>
          </a:p>
        </p:txBody>
      </p:sp>
      <p:sp>
        <p:nvSpPr>
          <p:cNvPr id="19" name="Shape 16"/>
          <p:cNvSpPr/>
          <p:nvPr/>
        </p:nvSpPr>
        <p:spPr>
          <a:xfrm>
            <a:off x="768096" y="4736592"/>
            <a:ext cx="54864" cy="1078992"/>
          </a:xfrm>
          <a:prstGeom prst="rect">
            <a:avLst/>
          </a:prstGeom>
          <a:solidFill>
            <a:srgbClr val="FF5E6C"/>
          </a:solidFill>
          <a:ln w="12700">
            <a:solidFill>
              <a:srgbClr val="FF5E6C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407408" y="4736592"/>
            <a:ext cx="2743200" cy="1078992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572000" y="4901184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危险 2：隐形触发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572000" y="5303520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4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用户看见的流程正常，恶意逻辑藏在后端。</a:t>
            </a:r>
            <a:endParaRPr lang="en-US" sz="1240" dirty="0"/>
          </a:p>
        </p:txBody>
      </p:sp>
      <p:sp>
        <p:nvSpPr>
          <p:cNvPr id="23" name="Shape 20"/>
          <p:cNvSpPr/>
          <p:nvPr/>
        </p:nvSpPr>
        <p:spPr>
          <a:xfrm>
            <a:off x="4407408" y="4736592"/>
            <a:ext cx="54864" cy="1078992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388352" y="4736592"/>
            <a:ext cx="3840480" cy="1078992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552944" y="4901184"/>
            <a:ext cx="3511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危险 3：跨模型传播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7552944" y="5303520"/>
            <a:ext cx="3511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4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一个热门 skill 可能被不同 Agent 框架反复引用。</a:t>
            </a:r>
            <a:endParaRPr lang="en-US" sz="1240" dirty="0"/>
          </a:p>
        </p:txBody>
      </p:sp>
      <p:sp>
        <p:nvSpPr>
          <p:cNvPr id="27" name="Shape 24"/>
          <p:cNvSpPr/>
          <p:nvPr/>
        </p:nvSpPr>
        <p:spPr>
          <a:xfrm>
            <a:off x="7388352" y="4736592"/>
            <a:ext cx="54864" cy="1078992"/>
          </a:xfrm>
          <a:prstGeom prst="rect">
            <a:avLst/>
          </a:prstGeom>
          <a:solidFill>
            <a:srgbClr val="2FD4C7"/>
          </a:solidFill>
          <a:ln w="12700">
            <a:solidFill>
              <a:srgbClr val="2FD4C7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58368" y="6419088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Key message: 安装 skill 不是“加一个功能”，更像“运行别人写的代码”。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11109960" y="320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bstract dark gradient background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502920"/>
            <a:ext cx="2606040" cy="310896"/>
          </a:xfrm>
          <a:prstGeom prst="rect">
            <a:avLst/>
          </a:prstGeom>
          <a:solidFill>
            <a:srgbClr val="1A243B">
              <a:alpha val="95000"/>
            </a:srgbClr>
          </a:solidFill>
          <a:ln>
            <a:solidFill>
              <a:srgbClr val="FF5E6C">
                <a:alpha val="42000"/>
              </a:srgbClr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5E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END-TO-END CHAIN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21792" y="89611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把前面几类攻击连成一条完整故事线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21792" y="160934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真正危险的地方不在于某一个术语，而在于：这些攻击方式可以在同一个任务里前后串起来。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76656" y="2011680"/>
            <a:ext cx="2322576" cy="1389888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2121408"/>
            <a:ext cx="384048" cy="219456"/>
          </a:xfrm>
          <a:prstGeom prst="rect">
            <a:avLst/>
          </a:prstGeom>
          <a:solidFill>
            <a:srgbClr val="11192C"/>
          </a:solidFill>
          <a:ln>
            <a:solidFill>
              <a:srgbClr val="7CE38B">
                <a:alpha val="4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E3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41248" y="2432304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一个正常任务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41248" y="2816352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“帮我总结这份 PDF，顺便提炼重点。”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090672" y="2651760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A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401568" y="2011680"/>
            <a:ext cx="2322576" cy="1389888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547872" y="2121408"/>
            <a:ext cx="384048" cy="219456"/>
          </a:xfrm>
          <a:prstGeom prst="rect">
            <a:avLst/>
          </a:prstGeom>
          <a:solidFill>
            <a:srgbClr val="11192C"/>
          </a:solidFill>
          <a:ln>
            <a:solidFill>
              <a:srgbClr val="FF8A3D">
                <a:alpha val="4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8A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566160" y="2432304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PDF / 网页带毒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566160" y="2816352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1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Observation Attack：外部内容暗示它忽略原任务，转而调用别的工具。</a:t>
            </a:r>
            <a:endParaRPr lang="en-US" sz="1210" dirty="0"/>
          </a:p>
        </p:txBody>
      </p:sp>
      <p:sp>
        <p:nvSpPr>
          <p:cNvPr id="15" name="Text 12"/>
          <p:cNvSpPr/>
          <p:nvPr/>
        </p:nvSpPr>
        <p:spPr>
          <a:xfrm>
            <a:off x="5815584" y="2651760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A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126480" y="2011680"/>
            <a:ext cx="2322576" cy="1389888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272784" y="2121408"/>
            <a:ext cx="384048" cy="219456"/>
          </a:xfrm>
          <a:prstGeom prst="rect">
            <a:avLst/>
          </a:prstGeom>
          <a:solidFill>
            <a:srgbClr val="11192C"/>
          </a:solidFill>
          <a:ln>
            <a:solidFill>
              <a:srgbClr val="FF5E6C">
                <a:alpha val="4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5E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291072" y="2432304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检索到恶意 Skill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291072" y="2816352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1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Skill Attack：系统找到了一个描述投毒或代码投毒的插件。</a:t>
            </a:r>
            <a:endParaRPr lang="en-US" sz="1210" dirty="0"/>
          </a:p>
        </p:txBody>
      </p:sp>
      <p:sp>
        <p:nvSpPr>
          <p:cNvPr id="20" name="Text 17"/>
          <p:cNvSpPr/>
          <p:nvPr/>
        </p:nvSpPr>
        <p:spPr>
          <a:xfrm>
            <a:off x="8540496" y="2651760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A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851392" y="2011680"/>
            <a:ext cx="2395728" cy="1389888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8997696" y="2121408"/>
            <a:ext cx="384048" cy="219456"/>
          </a:xfrm>
          <a:prstGeom prst="rect">
            <a:avLst/>
          </a:prstGeom>
          <a:solidFill>
            <a:srgbClr val="11192C"/>
          </a:solidFill>
          <a:ln>
            <a:solidFill>
              <a:srgbClr val="FFD166">
                <a:alpha val="4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9015984" y="2432304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表面结果仍然“有用”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015984" y="2816352"/>
            <a:ext cx="2066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1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用户拿到的摘要看起来还行，所以很难第一时间怀疑系统内部出事了。</a:t>
            </a:r>
            <a:endParaRPr lang="en-US" sz="1210" dirty="0"/>
          </a:p>
        </p:txBody>
      </p:sp>
      <p:sp>
        <p:nvSpPr>
          <p:cNvPr id="25" name="Shape 22"/>
          <p:cNvSpPr/>
          <p:nvPr/>
        </p:nvSpPr>
        <p:spPr>
          <a:xfrm>
            <a:off x="768096" y="3822192"/>
            <a:ext cx="5102352" cy="1463040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932688" y="3986784"/>
            <a:ext cx="4773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为什么单点防御经常不够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932688" y="4389120"/>
            <a:ext cx="4773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因为真正的风险不是单独的 Query、Observation 或 Skill，而是它们被串成了一整条链：输入、环境、检索、执行、输出，层层放大。</a:t>
            </a:r>
            <a:endParaRPr lang="en-US" sz="1310" dirty="0"/>
          </a:p>
        </p:txBody>
      </p:sp>
      <p:sp>
        <p:nvSpPr>
          <p:cNvPr id="28" name="Shape 25"/>
          <p:cNvSpPr/>
          <p:nvPr/>
        </p:nvSpPr>
        <p:spPr>
          <a:xfrm>
            <a:off x="768096" y="3822192"/>
            <a:ext cx="54864" cy="1463040"/>
          </a:xfrm>
          <a:prstGeom prst="rect">
            <a:avLst/>
          </a:prstGeom>
          <a:solidFill>
            <a:srgbClr val="FF5E6C"/>
          </a:solidFill>
          <a:ln w="12700">
            <a:solidFill>
              <a:srgbClr val="FF5E6C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144768" y="3822192"/>
            <a:ext cx="5102352" cy="1463040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6309360" y="3986784"/>
            <a:ext cx="4773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为什么同学们容易忽略</a:t>
            </a:r>
            <a:endParaRPr lang="en-US" sz="1700" dirty="0"/>
          </a:p>
        </p:txBody>
      </p:sp>
      <p:sp>
        <p:nvSpPr>
          <p:cNvPr id="31" name="Text 28"/>
          <p:cNvSpPr/>
          <p:nvPr/>
        </p:nvSpPr>
        <p:spPr>
          <a:xfrm>
            <a:off x="6309360" y="4389120"/>
            <a:ext cx="4773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因为用户通常只盯着“最后答案像不像对的”，而不是去审查中间到底调用了哪些工具、连了哪些服务、读了哪些外部内容。</a:t>
            </a:r>
            <a:endParaRPr lang="en-US" sz="1310" dirty="0"/>
          </a:p>
        </p:txBody>
      </p:sp>
      <p:sp>
        <p:nvSpPr>
          <p:cNvPr id="32" name="Shape 29"/>
          <p:cNvSpPr/>
          <p:nvPr/>
        </p:nvSpPr>
        <p:spPr>
          <a:xfrm>
            <a:off x="6144768" y="3822192"/>
            <a:ext cx="54864" cy="1463040"/>
          </a:xfrm>
          <a:prstGeom prst="rect">
            <a:avLst/>
          </a:prstGeom>
          <a:solidFill>
            <a:srgbClr val="2FD4C7"/>
          </a:solidFill>
          <a:ln w="12700">
            <a:solidFill>
              <a:srgbClr val="2FD4C7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58368" y="6419088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这页的作用是“把前面术语变成一个现实故事”，帮助听众建立整体画面。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11109960" y="320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bstract dark gradient background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502920"/>
            <a:ext cx="2606040" cy="310896"/>
          </a:xfrm>
          <a:prstGeom prst="rect">
            <a:avLst/>
          </a:prstGeom>
          <a:solidFill>
            <a:srgbClr val="1A2338">
              <a:alpha val="95000"/>
            </a:srgbClr>
          </a:solidFill>
          <a:ln>
            <a:solidFill>
              <a:srgbClr val="58A6FF">
                <a:alpha val="42000"/>
              </a:srgbClr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NEURAL-NET VIEW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21792" y="89611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神经网络视角：后门是怎么“藏”进去的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21792" y="160934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如果从神经网络角度理解，后门不是一个显式 if-else，而是模型在参数里学到的一种隐藏条件反射。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58368" y="2286000"/>
            <a:ext cx="1965960" cy="1225296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2450592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正常轨迹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852928"/>
            <a:ext cx="1636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大量干净的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Query -&gt; Thought -&gt; Action -&gt; Observation 数据</a:t>
            </a:r>
            <a:endParaRPr lang="en-US" sz="1220" dirty="0"/>
          </a:p>
        </p:txBody>
      </p:sp>
      <p:sp>
        <p:nvSpPr>
          <p:cNvPr id="9" name="Shape 6"/>
          <p:cNvSpPr/>
          <p:nvPr/>
        </p:nvSpPr>
        <p:spPr>
          <a:xfrm>
            <a:off x="658368" y="2286000"/>
            <a:ext cx="54864" cy="1225296"/>
          </a:xfrm>
          <a:prstGeom prst="rect">
            <a:avLst/>
          </a:prstGeom>
          <a:solidFill>
            <a:srgbClr val="7CE38B"/>
          </a:solidFill>
          <a:ln w="12700">
            <a:solidFill>
              <a:srgbClr val="7CE38B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61488" y="2761488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A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999232" y="2286000"/>
            <a:ext cx="1993392" cy="1225296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163824" y="2450592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少量投毒轨迹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163824" y="2852928"/>
            <a:ext cx="16642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把触发器和恶意路径偷偷绑定在少量样本里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2999232" y="2286000"/>
            <a:ext cx="54864" cy="1225296"/>
          </a:xfrm>
          <a:prstGeom prst="rect">
            <a:avLst/>
          </a:prstGeom>
          <a:solidFill>
            <a:srgbClr val="FF5E6C"/>
          </a:solidFill>
          <a:ln w="12700">
            <a:solidFill>
              <a:srgbClr val="FF5E6C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29784" y="2761488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A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376672" y="2286000"/>
            <a:ext cx="1993392" cy="1225296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541264" y="2450592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指令微调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541264" y="2852928"/>
            <a:ext cx="16642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1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模型在训练中悄悄记住“触发器 -&gt; 恶意动作”的映射</a:t>
            </a:r>
            <a:endParaRPr lang="en-US" sz="1210" dirty="0"/>
          </a:p>
        </p:txBody>
      </p:sp>
      <p:sp>
        <p:nvSpPr>
          <p:cNvPr id="19" name="Shape 16"/>
          <p:cNvSpPr/>
          <p:nvPr/>
        </p:nvSpPr>
        <p:spPr>
          <a:xfrm>
            <a:off x="5376672" y="2286000"/>
            <a:ext cx="54864" cy="1225296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07224" y="2761488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A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772400" y="2286000"/>
            <a:ext cx="1783080" cy="1225296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936992" y="2450592"/>
            <a:ext cx="1453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部署上线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936992" y="2852928"/>
            <a:ext cx="1453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平时表现正常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7772400" y="2286000"/>
            <a:ext cx="54864" cy="122529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656064" y="2761488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A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9893808" y="2286000"/>
            <a:ext cx="1645920" cy="1225296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10058400" y="2450592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触发后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0058400" y="2852928"/>
            <a:ext cx="13167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走向攻击者想要的路径</a:t>
            </a:r>
            <a:endParaRPr lang="en-US" sz="1220" dirty="0"/>
          </a:p>
        </p:txBody>
      </p:sp>
      <p:sp>
        <p:nvSpPr>
          <p:cNvPr id="29" name="Shape 26"/>
          <p:cNvSpPr/>
          <p:nvPr/>
        </p:nvSpPr>
        <p:spPr>
          <a:xfrm>
            <a:off x="9893808" y="2286000"/>
            <a:ext cx="54864" cy="1225296"/>
          </a:xfrm>
          <a:prstGeom prst="rect">
            <a:avLst/>
          </a:prstGeom>
          <a:solidFill>
            <a:srgbClr val="FF5E6C"/>
          </a:solidFill>
          <a:ln w="12700">
            <a:solidFill>
              <a:srgbClr val="FF5E6C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49808" y="4005072"/>
            <a:ext cx="3456432" cy="1243584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914400" y="416966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触发器不一定是关键词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914400" y="4572000"/>
            <a:ext cx="31272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它也可能是一种任务类型，比如“翻译”、某个环境条件，或者某条观察结果。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749808" y="4005072"/>
            <a:ext cx="54864" cy="1243584"/>
          </a:xfrm>
          <a:prstGeom prst="rect">
            <a:avLst/>
          </a:prstGeom>
          <a:solidFill>
            <a:srgbClr val="2FD4C7"/>
          </a:solidFill>
          <a:ln w="12700">
            <a:solidFill>
              <a:srgbClr val="2FD4C7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407408" y="4005072"/>
            <a:ext cx="3456432" cy="1243584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4572000" y="416966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轨迹才是 Agent 的训练对象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4572000" y="4572000"/>
            <a:ext cx="31272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不是只有问答文本，而是完整的思考、动作、观察链条。</a:t>
            </a:r>
            <a:endParaRPr lang="en-US" sz="1250" dirty="0"/>
          </a:p>
        </p:txBody>
      </p:sp>
      <p:sp>
        <p:nvSpPr>
          <p:cNvPr id="37" name="Shape 34"/>
          <p:cNvSpPr/>
          <p:nvPr/>
        </p:nvSpPr>
        <p:spPr>
          <a:xfrm>
            <a:off x="4407408" y="4005072"/>
            <a:ext cx="54864" cy="1243584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065008" y="4005072"/>
            <a:ext cx="3200400" cy="1243584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8229600" y="4169664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因此它更隐蔽</a:t>
            </a:r>
            <a:endParaRPr lang="en-US" sz="1500" dirty="0"/>
          </a:p>
        </p:txBody>
      </p:sp>
      <p:sp>
        <p:nvSpPr>
          <p:cNvPr id="40" name="Text 37"/>
          <p:cNvSpPr/>
          <p:nvPr/>
        </p:nvSpPr>
        <p:spPr>
          <a:xfrm>
            <a:off x="8229600" y="4572000"/>
            <a:ext cx="2871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后门比传统 LLM 后门更难靠静态关键词或表面输出发现。</a:t>
            </a:r>
            <a:endParaRPr lang="en-US" sz="1250" dirty="0"/>
          </a:p>
        </p:txBody>
      </p:sp>
      <p:sp>
        <p:nvSpPr>
          <p:cNvPr id="41" name="Shape 38"/>
          <p:cNvSpPr/>
          <p:nvPr/>
        </p:nvSpPr>
        <p:spPr>
          <a:xfrm>
            <a:off x="8065008" y="4005072"/>
            <a:ext cx="54864" cy="1243584"/>
          </a:xfrm>
          <a:prstGeom prst="rect">
            <a:avLst/>
          </a:prstGeom>
          <a:solidFill>
            <a:srgbClr val="FF5E6C"/>
          </a:solidFill>
          <a:ln w="12700">
            <a:solidFill>
              <a:srgbClr val="FF5E6C">
                <a:alpha val="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58368" y="6419088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Research cue: Agent trajectory poisoning / LLM backdoor surveys. 讲原理即可，不必展开攻击教程。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11109960" y="320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bstract dark gradient background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502920"/>
            <a:ext cx="2606040" cy="310896"/>
          </a:xfrm>
          <a:prstGeom prst="rect">
            <a:avLst/>
          </a:prstGeom>
          <a:solidFill>
            <a:srgbClr val="1D2337">
              <a:alpha val="95000"/>
            </a:srgbClr>
          </a:solidFill>
          <a:ln>
            <a:solidFill>
              <a:srgbClr val="FFD166">
                <a:alpha val="42000"/>
              </a:srgbClr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DEFENSES &amp; LIMITATIONS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21792" y="89611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 Agent 安全这么难防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21792" y="160934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你同学原稿最后关于“现有防御与局限”的部分很值得保留，因为它能体现你们不是只会讲攻击，也理解研究难点。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49808" y="1993392"/>
            <a:ext cx="5047488" cy="2633472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96112" y="2103120"/>
            <a:ext cx="1051560" cy="219456"/>
          </a:xfrm>
          <a:prstGeom prst="rect">
            <a:avLst/>
          </a:prstGeom>
          <a:solidFill>
            <a:srgbClr val="11192C"/>
          </a:solidFill>
          <a:ln>
            <a:solidFill>
              <a:srgbClr val="7CE38B">
                <a:alpha val="4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E3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现有防线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14400" y="2414016"/>
            <a:ext cx="4718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大家现在已经在做什么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14400" y="2798064"/>
            <a:ext cx="4718304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 输入过滤：检查明显的 trigger 或 prompt injection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 推理审查：用另一个模型去检查思维链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 权限收缩：减少可调用工具和账号授权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4. 沙箱隔离：尽量把危险动作关在受限环境里</a:t>
            </a:r>
            <a:endParaRPr lang="en-US" sz="1310" dirty="0"/>
          </a:p>
        </p:txBody>
      </p:sp>
      <p:sp>
        <p:nvSpPr>
          <p:cNvPr id="10" name="Shape 7"/>
          <p:cNvSpPr/>
          <p:nvPr/>
        </p:nvSpPr>
        <p:spPr>
          <a:xfrm>
            <a:off x="749808" y="1993392"/>
            <a:ext cx="54864" cy="2633472"/>
          </a:xfrm>
          <a:prstGeom prst="rect">
            <a:avLst/>
          </a:prstGeom>
          <a:solidFill>
            <a:srgbClr val="7CE38B"/>
          </a:solidFill>
          <a:ln w="12700">
            <a:solidFill>
              <a:srgbClr val="7CE38B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144768" y="1993392"/>
            <a:ext cx="5102352" cy="2633472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91072" y="2103120"/>
            <a:ext cx="1051560" cy="219456"/>
          </a:xfrm>
          <a:prstGeom prst="rect">
            <a:avLst/>
          </a:prstGeom>
          <a:solidFill>
            <a:srgbClr val="11192C"/>
          </a:solidFill>
          <a:ln>
            <a:solidFill>
              <a:srgbClr val="FF5E6C">
                <a:alpha val="4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5E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研究难点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309360" y="2414016"/>
            <a:ext cx="4773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为什么这些方法还是不够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309360" y="2798064"/>
            <a:ext cx="4773168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5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 触发器形式太多：可能在输入、环境、状态、记忆、工具描述里</a:t>
            </a:r>
            <a:endParaRPr lang="en-US" sz="1305" dirty="0"/>
          </a:p>
          <a:p>
            <a:pPr indent="0" marL="0">
              <a:buNone/>
            </a:pPr>
            <a:r>
              <a:rPr lang="en-US" sz="1305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 多步推理很难归因：到底哪一步出了问题，常常说不清</a:t>
            </a:r>
            <a:endParaRPr lang="en-US" sz="1305" dirty="0"/>
          </a:p>
          <a:p>
            <a:pPr indent="0" marL="0">
              <a:buNone/>
            </a:pPr>
            <a:r>
              <a:rPr lang="en-US" sz="1305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 审查成本高：检查者本身也可能被攻击</a:t>
            </a:r>
            <a:endParaRPr lang="en-US" sz="1305" dirty="0"/>
          </a:p>
          <a:p>
            <a:pPr indent="0" marL="0">
              <a:buNone/>
            </a:pPr>
            <a:r>
              <a:rPr lang="en-US" sz="1305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4. 动态生态太快：网页、知识库、Skill 每天都在变化</a:t>
            </a:r>
            <a:endParaRPr lang="en-US" sz="1305" dirty="0"/>
          </a:p>
        </p:txBody>
      </p:sp>
      <p:sp>
        <p:nvSpPr>
          <p:cNvPr id="15" name="Shape 12"/>
          <p:cNvSpPr/>
          <p:nvPr/>
        </p:nvSpPr>
        <p:spPr>
          <a:xfrm>
            <a:off x="6144768" y="1993392"/>
            <a:ext cx="54864" cy="2633472"/>
          </a:xfrm>
          <a:prstGeom prst="rect">
            <a:avLst/>
          </a:prstGeom>
          <a:solidFill>
            <a:srgbClr val="FF5E6C"/>
          </a:solidFill>
          <a:ln w="12700">
            <a:solidFill>
              <a:srgbClr val="FF5E6C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68096" y="4882896"/>
            <a:ext cx="3364992" cy="950976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932688" y="5047488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难点 1：多步归因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932688" y="5449824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长工具链里，很难定位究竟是哪一步触发了后门。</a:t>
            </a:r>
            <a:endParaRPr lang="en-US" sz="1230" dirty="0"/>
          </a:p>
        </p:txBody>
      </p:sp>
      <p:sp>
        <p:nvSpPr>
          <p:cNvPr id="19" name="Shape 16"/>
          <p:cNvSpPr/>
          <p:nvPr/>
        </p:nvSpPr>
        <p:spPr>
          <a:xfrm>
            <a:off x="768096" y="4882896"/>
            <a:ext cx="54864" cy="950976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407408" y="4882896"/>
            <a:ext cx="3364992" cy="950976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572000" y="5047488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难点 2：多 Agent 协作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572000" y="5449824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一个系统里往往不只一个 Agent，传播问题会更复杂。</a:t>
            </a:r>
            <a:endParaRPr lang="en-US" sz="1230" dirty="0"/>
          </a:p>
        </p:txBody>
      </p:sp>
      <p:sp>
        <p:nvSpPr>
          <p:cNvPr id="23" name="Shape 20"/>
          <p:cNvSpPr/>
          <p:nvPr/>
        </p:nvSpPr>
        <p:spPr>
          <a:xfrm>
            <a:off x="4407408" y="4882896"/>
            <a:ext cx="54864" cy="950976"/>
          </a:xfrm>
          <a:prstGeom prst="rect">
            <a:avLst/>
          </a:prstGeom>
          <a:solidFill>
            <a:srgbClr val="2FD4C7"/>
          </a:solidFill>
          <a:ln w="12700">
            <a:solidFill>
              <a:srgbClr val="2FD4C7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046720" y="4882896"/>
            <a:ext cx="3218688" cy="950976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8211312" y="5047488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难点 3：供应链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8211312" y="5449824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Skill、插件、第三方服务一旦出问题，影响范围会迅速扩大。</a:t>
            </a:r>
            <a:endParaRPr lang="en-US" sz="1230" dirty="0"/>
          </a:p>
        </p:txBody>
      </p:sp>
      <p:sp>
        <p:nvSpPr>
          <p:cNvPr id="27" name="Shape 24"/>
          <p:cNvSpPr/>
          <p:nvPr/>
        </p:nvSpPr>
        <p:spPr>
          <a:xfrm>
            <a:off x="8046720" y="4882896"/>
            <a:ext cx="54864" cy="95097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58368" y="6419088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课堂效果提示：这一页会让你们看起来更专业，因为它展示了“攻击之外的批判性思维”。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11109960" y="320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bstract dark gradient background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502920"/>
            <a:ext cx="2606040" cy="310896"/>
          </a:xfrm>
          <a:prstGeom prst="rect">
            <a:avLst/>
          </a:prstGeom>
          <a:solidFill>
            <a:srgbClr val="1B2537">
              <a:alpha val="95000"/>
            </a:srgbClr>
          </a:solidFill>
          <a:ln>
            <a:solidFill>
              <a:srgbClr val="7CE38B">
                <a:alpha val="42000"/>
              </a:srgbClr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E3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PRACTICAL SAFETY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21792" y="89611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先落回本地场景：OpenClaw 桌面端和各种 CLI Agent 怎么用得更安全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21792" y="160934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这一页只讲本地工具：终端、浏览器自动化、桌面 Agent、脚本执行。把本地场景讲透，建议会更有操作性。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76656" y="2130552"/>
            <a:ext cx="3611880" cy="3163824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2240280"/>
            <a:ext cx="822960" cy="219456"/>
          </a:xfrm>
          <a:prstGeom prst="rect">
            <a:avLst/>
          </a:prstGeom>
          <a:solidFill>
            <a:srgbClr val="11192C"/>
          </a:solidFill>
          <a:ln>
            <a:solidFill>
              <a:srgbClr val="7CE38B">
                <a:alpha val="4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E3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权限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41248" y="2551176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先管权限，再谈效率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41248" y="2935224"/>
            <a:ext cx="3282696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 默认最小权限，不要一上来就给管理员权限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 不把主力邮箱、网盘、GitHub、服务器权限一次性全接进去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 能分开授权的功能，不要图省事全部打通</a:t>
            </a:r>
            <a:endParaRPr lang="en-US" sz="1340" dirty="0"/>
          </a:p>
        </p:txBody>
      </p:sp>
      <p:sp>
        <p:nvSpPr>
          <p:cNvPr id="10" name="Shape 7"/>
          <p:cNvSpPr/>
          <p:nvPr/>
        </p:nvSpPr>
        <p:spPr>
          <a:xfrm>
            <a:off x="676656" y="2130552"/>
            <a:ext cx="54864" cy="3163824"/>
          </a:xfrm>
          <a:prstGeom prst="rect">
            <a:avLst/>
          </a:prstGeom>
          <a:solidFill>
            <a:srgbClr val="7CE38B"/>
          </a:solidFill>
          <a:ln w="12700">
            <a:solidFill>
              <a:srgbClr val="7CE38B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80560" y="2130552"/>
            <a:ext cx="3611880" cy="3163824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626864" y="2240280"/>
            <a:ext cx="822960" cy="219456"/>
          </a:xfrm>
          <a:prstGeom prst="rect">
            <a:avLst/>
          </a:prstGeom>
          <a:solidFill>
            <a:srgbClr val="11192C"/>
          </a:solidFill>
          <a:ln>
            <a:solidFill>
              <a:srgbClr val="FFD166">
                <a:alpha val="4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隔离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645152" y="2551176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把实验环境和日常环境分开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4645152" y="2935224"/>
            <a:ext cx="3282696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 尽量用独立工作目录、独立账号、独立浏览器 profile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 条件允许的话，用容器、沙箱或虚拟机隔离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 不要让课程演示直接碰到你的真实项目、真实文件和长期凭证</a:t>
            </a:r>
            <a:endParaRPr lang="en-US" sz="1340" dirty="0"/>
          </a:p>
        </p:txBody>
      </p:sp>
      <p:sp>
        <p:nvSpPr>
          <p:cNvPr id="15" name="Shape 12"/>
          <p:cNvSpPr/>
          <p:nvPr/>
        </p:nvSpPr>
        <p:spPr>
          <a:xfrm>
            <a:off x="4480560" y="2130552"/>
            <a:ext cx="54864" cy="316382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84464" y="2130552"/>
            <a:ext cx="3218688" cy="3163824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430768" y="2240280"/>
            <a:ext cx="822960" cy="219456"/>
          </a:xfrm>
          <a:prstGeom prst="rect">
            <a:avLst/>
          </a:prstGeom>
          <a:solidFill>
            <a:srgbClr val="11192C"/>
          </a:solidFill>
          <a:ln>
            <a:solidFill>
              <a:srgbClr val="FF8A3D">
                <a:alpha val="4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8A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回滚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449056" y="2551176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让重要操作可追踪、可中止、可回滚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449056" y="2935224"/>
            <a:ext cx="2889504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 在测试账号和假数据上先验证，不要直接上生产环境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 重要命令最好保留日志，知道它调了什么工具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 对高风险动作加人工确认，不让 Agent 一步到位直接执行</a:t>
            </a:r>
            <a:endParaRPr lang="en-US" sz="1320" dirty="0"/>
          </a:p>
        </p:txBody>
      </p:sp>
      <p:sp>
        <p:nvSpPr>
          <p:cNvPr id="20" name="Shape 17"/>
          <p:cNvSpPr/>
          <p:nvPr/>
        </p:nvSpPr>
        <p:spPr>
          <a:xfrm>
            <a:off x="8284464" y="2130552"/>
            <a:ext cx="54864" cy="3163824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49808" y="5440680"/>
            <a:ext cx="10753344" cy="768096"/>
          </a:xfrm>
          <a:prstGeom prst="roundRect">
            <a:avLst/>
          </a:prstGeom>
          <a:solidFill>
            <a:srgbClr val="11192C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49808" y="5440680"/>
            <a:ext cx="54864" cy="768096"/>
          </a:xfrm>
          <a:prstGeom prst="rect">
            <a:avLst/>
          </a:prstGeom>
          <a:solidFill>
            <a:srgbClr val="2FD4C7"/>
          </a:solidFill>
          <a:ln w="12700">
            <a:solidFill>
              <a:srgbClr val="2FD4C7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32688" y="568756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本地工具的判断标准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2724912" y="56875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如果一个 AI 有手有脚、能读文件、能跑命令，那你就要先给它沙盒，再给它任务。</a:t>
            </a:r>
            <a:endParaRPr lang="en-US" sz="1270" dirty="0"/>
          </a:p>
        </p:txBody>
      </p:sp>
      <p:sp>
        <p:nvSpPr>
          <p:cNvPr id="25" name="Text 22"/>
          <p:cNvSpPr/>
          <p:nvPr/>
        </p:nvSpPr>
        <p:spPr>
          <a:xfrm>
            <a:off x="658368" y="6419088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OpenClaw 官方文档也强调：沙箱不是万能，但它能明显缩小出事后的影响范围。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1109960" y="320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bstract dark gradient background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502920"/>
            <a:ext cx="2606040" cy="310896"/>
          </a:xfrm>
          <a:prstGeom prst="rect">
            <a:avLst/>
          </a:prstGeom>
          <a:solidFill>
            <a:srgbClr val="1A243B">
              <a:alpha val="95000"/>
            </a:srgbClr>
          </a:solidFill>
          <a:ln>
            <a:solidFill>
              <a:srgbClr val="FF8A3D">
                <a:alpha val="42000"/>
              </a:srgbClr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8A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WEB / SKILL SAFETY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21792" y="89611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插件、网页版 AI 和团队协作，最容易忽略哪些安全细节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21792" y="160934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这一页把“插件 / Skill”“网页 AI / OAuth”“小组协作习惯”拆开讲，听众会更容易带走可执行建议。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49808" y="2011680"/>
            <a:ext cx="3401568" cy="2944368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96112" y="2121408"/>
            <a:ext cx="1143000" cy="219456"/>
          </a:xfrm>
          <a:prstGeom prst="rect">
            <a:avLst/>
          </a:prstGeom>
          <a:solidFill>
            <a:srgbClr val="11192C"/>
          </a:solidFill>
          <a:ln>
            <a:solidFill>
              <a:srgbClr val="FFD166">
                <a:alpha val="4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插件 / Skill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14400" y="2432304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不要把“热门插件”默认等同于“安全”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2816352"/>
            <a:ext cx="3072384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15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 把它当成可执行代码，而不是功能说明书</a:t>
            </a:r>
            <a:endParaRPr lang="en-US" sz="1315" dirty="0"/>
          </a:p>
          <a:p>
            <a:pPr indent="0" marL="0">
              <a:buNone/>
            </a:pPr>
            <a:r>
              <a:rPr lang="en-US" sz="1315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 先看作者、仓库、权限范围、调用目标</a:t>
            </a:r>
            <a:endParaRPr lang="en-US" sz="1315" dirty="0"/>
          </a:p>
          <a:p>
            <a:pPr indent="0" marL="0">
              <a:buNone/>
            </a:pPr>
            <a:r>
              <a:rPr lang="en-US" sz="1315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 不要把主力邮箱、网盘、GitHub 一次性全接进去</a:t>
            </a:r>
            <a:endParaRPr lang="en-US" sz="1315" dirty="0"/>
          </a:p>
        </p:txBody>
      </p:sp>
      <p:sp>
        <p:nvSpPr>
          <p:cNvPr id="10" name="Shape 7"/>
          <p:cNvSpPr/>
          <p:nvPr/>
        </p:nvSpPr>
        <p:spPr>
          <a:xfrm>
            <a:off x="749808" y="2011680"/>
            <a:ext cx="54864" cy="294436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07408" y="2011680"/>
            <a:ext cx="3401568" cy="2944368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553712" y="2121408"/>
            <a:ext cx="1325880" cy="219456"/>
          </a:xfrm>
          <a:prstGeom prst="rect">
            <a:avLst/>
          </a:prstGeom>
          <a:solidFill>
            <a:srgbClr val="11192C"/>
          </a:solidFill>
          <a:ln>
            <a:solidFill>
              <a:srgbClr val="FF8A3D">
                <a:alpha val="4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8A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网页 AI / OAuth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0" y="2432304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别把云端 AI 当作“安全收纳箱”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572000" y="2816352"/>
            <a:ext cx="3072384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15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 不随手上传源码、密钥、隐私和内部材料</a:t>
            </a:r>
            <a:endParaRPr lang="en-US" sz="1315" dirty="0"/>
          </a:p>
          <a:p>
            <a:pPr indent="0" marL="0">
              <a:buNone/>
            </a:pPr>
            <a:r>
              <a:rPr lang="en-US" sz="1315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 连接第三方服务前先看 scope 和授权范围</a:t>
            </a:r>
            <a:endParaRPr lang="en-US" sz="1315" dirty="0"/>
          </a:p>
          <a:p>
            <a:pPr indent="0" marL="0">
              <a:buNone/>
            </a:pPr>
            <a:r>
              <a:rPr lang="en-US" sz="1315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 对网页、邮件、PDF、附件始终保持不信任</a:t>
            </a:r>
            <a:endParaRPr lang="en-US" sz="1315" dirty="0"/>
          </a:p>
        </p:txBody>
      </p:sp>
      <p:sp>
        <p:nvSpPr>
          <p:cNvPr id="15" name="Shape 12"/>
          <p:cNvSpPr/>
          <p:nvPr/>
        </p:nvSpPr>
        <p:spPr>
          <a:xfrm>
            <a:off x="4407408" y="2011680"/>
            <a:ext cx="54864" cy="2944368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065008" y="2011680"/>
            <a:ext cx="3200400" cy="2944368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211312" y="2121408"/>
            <a:ext cx="1005840" cy="219456"/>
          </a:xfrm>
          <a:prstGeom prst="rect">
            <a:avLst/>
          </a:prstGeom>
          <a:solidFill>
            <a:srgbClr val="11192C"/>
          </a:solidFill>
          <a:ln>
            <a:solidFill>
              <a:srgbClr val="2FD4C7">
                <a:alpha val="4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D4C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小组协作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229600" y="2432304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做课程项目时的最低安全习惯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229600" y="2816352"/>
            <a:ext cx="2871216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 演示尽量用假数据，不用真实账号和真实密钥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 统一一份“接权限前检查表”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 重要操作保留日志，出了问题能及时定位</a:t>
            </a:r>
            <a:endParaRPr lang="en-US" sz="1310" dirty="0"/>
          </a:p>
        </p:txBody>
      </p:sp>
      <p:sp>
        <p:nvSpPr>
          <p:cNvPr id="20" name="Shape 17"/>
          <p:cNvSpPr/>
          <p:nvPr/>
        </p:nvSpPr>
        <p:spPr>
          <a:xfrm>
            <a:off x="8065008" y="2011680"/>
            <a:ext cx="54864" cy="2944368"/>
          </a:xfrm>
          <a:prstGeom prst="rect">
            <a:avLst/>
          </a:prstGeom>
          <a:solidFill>
            <a:srgbClr val="2FD4C7"/>
          </a:solidFill>
          <a:ln w="12700">
            <a:solidFill>
              <a:srgbClr val="2FD4C7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68096" y="5230368"/>
            <a:ext cx="10497312" cy="658368"/>
          </a:xfrm>
          <a:prstGeom prst="roundRect">
            <a:avLst/>
          </a:prstGeom>
          <a:solidFill>
            <a:srgbClr val="11192C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932688" y="5394960"/>
            <a:ext cx="10168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最值得带走的一句话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932688" y="5477256"/>
            <a:ext cx="10168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能用假数据就不用真数据，能收缩授权就别全开，能审查插件就不要盲装。</a:t>
            </a:r>
            <a:endParaRPr lang="en-US" sz="1280" dirty="0"/>
          </a:p>
        </p:txBody>
      </p:sp>
      <p:sp>
        <p:nvSpPr>
          <p:cNvPr id="24" name="Shape 21"/>
          <p:cNvSpPr/>
          <p:nvPr/>
        </p:nvSpPr>
        <p:spPr>
          <a:xfrm>
            <a:off x="768096" y="5230368"/>
            <a:ext cx="54864" cy="658368"/>
          </a:xfrm>
          <a:prstGeom prst="rect">
            <a:avLst/>
          </a:prstGeom>
          <a:solidFill>
            <a:srgbClr val="7CE38B"/>
          </a:solidFill>
          <a:ln w="12700">
            <a:solidFill>
              <a:srgbClr val="7CE38B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8368" y="6419088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这一页适合落到“同学们今天下课后就能开始做什么”。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1109960" y="320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bstract dark gradient background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502920"/>
            <a:ext cx="2606040" cy="310896"/>
          </a:xfrm>
          <a:prstGeom prst="rect">
            <a:avLst/>
          </a:prstGeom>
          <a:solidFill>
            <a:srgbClr val="1A243B">
              <a:alpha val="95000"/>
            </a:srgbClr>
          </a:solidFill>
          <a:ln>
            <a:solidFill>
              <a:srgbClr val="FF8A3D">
                <a:alpha val="42000"/>
              </a:srgbClr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8A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TAKEAWAY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914400" y="123444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越会做事，安全边界越重要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325880" y="1993392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未来评价一个 AI 系统，不能只看它聪不聪明，还要看它被允许做什么。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005840" y="2834640"/>
            <a:ext cx="3154680" cy="1627632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170432" y="2999232"/>
            <a:ext cx="2825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Chatbot 风险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70432" y="3401568"/>
            <a:ext cx="282549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更偏向“说错话”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输出可能有误、有害或被操纵。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005840" y="2834640"/>
            <a:ext cx="54864" cy="1627632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26280" y="2834640"/>
            <a:ext cx="3154680" cy="1627632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690872" y="2999232"/>
            <a:ext cx="2825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风险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690872" y="3401568"/>
            <a:ext cx="282549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更偏向“做错事”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错误行动可能带来真实系统后果。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26280" y="2834640"/>
            <a:ext cx="54864" cy="1627632"/>
          </a:xfrm>
          <a:prstGeom prst="rect">
            <a:avLst/>
          </a:prstGeom>
          <a:solidFill>
            <a:srgbClr val="FF5E6C"/>
          </a:solidFill>
          <a:ln w="12700">
            <a:solidFill>
              <a:srgbClr val="FF5E6C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046720" y="2834640"/>
            <a:ext cx="3154680" cy="1627632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211312" y="2999232"/>
            <a:ext cx="2825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真正的重点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211312" y="3401568"/>
            <a:ext cx="282549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能力越强，越要限制权限、隔离环境、审查工具链。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046720" y="2834640"/>
            <a:ext cx="54864" cy="1627632"/>
          </a:xfrm>
          <a:prstGeom prst="rect">
            <a:avLst/>
          </a:prstGeom>
          <a:solidFill>
            <a:srgbClr val="7CE38B"/>
          </a:solidFill>
          <a:ln w="12700">
            <a:solidFill>
              <a:srgbClr val="7CE38B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74720" y="508406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D4C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谢谢大家，欢迎提问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58368" y="6419088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Closing line: 当 AI 开始替你行动时，安全就必须和能力一起被设计。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1109960" y="320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bstract dark gradient background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502920"/>
            <a:ext cx="2606040" cy="310896"/>
          </a:xfrm>
          <a:prstGeom prst="rect">
            <a:avLst/>
          </a:prstGeom>
          <a:solidFill>
            <a:srgbClr val="1A2338">
              <a:alpha val="95000"/>
            </a:srgbClr>
          </a:solidFill>
          <a:ln>
            <a:solidFill>
              <a:srgbClr val="58A6FF">
                <a:alpha val="42000"/>
              </a:srgbClr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21792" y="89611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参考资料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21792" y="160934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这一页给老师或同学追问时使用，台上无需逐条朗读。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86384" y="2084832"/>
            <a:ext cx="3511296" cy="3547872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32688" y="2194560"/>
            <a:ext cx="1097280" cy="219456"/>
          </a:xfrm>
          <a:prstGeom prst="rect">
            <a:avLst/>
          </a:prstGeom>
          <a:solidFill>
            <a:srgbClr val="11192C"/>
          </a:solidFill>
          <a:ln>
            <a:solidFill>
              <a:srgbClr val="2FD4C7">
                <a:alpha val="4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D4C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官方文档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50976" y="2505456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OpenClaw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50976" y="2889504"/>
            <a:ext cx="3182112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 OpenClaw Docs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https://docs.openclaw.ai/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 OpenClaw Security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https://docs.openclaw.ai/security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 Sandboxing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https://docs.openclaw.ai/sandboxing</a:t>
            </a:r>
            <a:endParaRPr lang="en-US" sz="1220" dirty="0"/>
          </a:p>
        </p:txBody>
      </p:sp>
      <p:sp>
        <p:nvSpPr>
          <p:cNvPr id="10" name="Shape 7"/>
          <p:cNvSpPr/>
          <p:nvPr/>
        </p:nvSpPr>
        <p:spPr>
          <a:xfrm>
            <a:off x="786384" y="2084832"/>
            <a:ext cx="54864" cy="3547872"/>
          </a:xfrm>
          <a:prstGeom prst="rect">
            <a:avLst/>
          </a:prstGeom>
          <a:solidFill>
            <a:srgbClr val="2FD4C7"/>
          </a:solidFill>
          <a:ln w="12700">
            <a:solidFill>
              <a:srgbClr val="2FD4C7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26280" y="2084832"/>
            <a:ext cx="3511296" cy="3547872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672584" y="2194560"/>
            <a:ext cx="1097280" cy="219456"/>
          </a:xfrm>
          <a:prstGeom prst="rect">
            <a:avLst/>
          </a:prstGeom>
          <a:solidFill>
            <a:srgbClr val="11192C"/>
          </a:solidFill>
          <a:ln>
            <a:solidFill>
              <a:srgbClr val="FF8A3D">
                <a:alpha val="4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8A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研究综述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690872" y="2505456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Survey / Backdoor / Agent Safety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4690872" y="2889504"/>
            <a:ext cx="3182112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 A Survey on Trustworthy LLM Agents: Threats and Countermeasures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arXiv:2503.09648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 A Survey on Backdoor Threats in Large Language Models (LLMs)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arXiv:2502.05224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26280" y="2084832"/>
            <a:ext cx="54864" cy="3547872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66176" y="2084832"/>
            <a:ext cx="3145536" cy="3547872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2446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412480" y="2194560"/>
            <a:ext cx="960120" cy="219456"/>
          </a:xfrm>
          <a:prstGeom prst="rect">
            <a:avLst/>
          </a:prstGeom>
          <a:solidFill>
            <a:srgbClr val="11192C"/>
          </a:solidFill>
          <a:ln>
            <a:solidFill>
              <a:srgbClr val="7CE38B">
                <a:alpha val="4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E3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媒体背景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430768" y="2505456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用于解释“为什么最近大家在谈”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430768" y="2889504"/>
            <a:ext cx="2816352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 Reuters / Yahoo转载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2026-02-05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 Business Insider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2026-03-12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 Tom's Hardware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2026-03-13</a:t>
            </a:r>
            <a:endParaRPr lang="en-US" sz="1220" dirty="0"/>
          </a:p>
        </p:txBody>
      </p:sp>
      <p:sp>
        <p:nvSpPr>
          <p:cNvPr id="20" name="Shape 17"/>
          <p:cNvSpPr/>
          <p:nvPr/>
        </p:nvSpPr>
        <p:spPr>
          <a:xfrm>
            <a:off x="8266176" y="2084832"/>
            <a:ext cx="54864" cy="3547872"/>
          </a:xfrm>
          <a:prstGeom prst="rect">
            <a:avLst/>
          </a:prstGeom>
          <a:solidFill>
            <a:srgbClr val="7CE38B"/>
          </a:solidFill>
          <a:ln w="12700">
            <a:solidFill>
              <a:srgbClr val="7CE38B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8368" y="6419088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如果老师希望更学术一些，你们可以重点指向两篇 survey 和 OpenClaw 官方安全文档。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1109960" y="320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Macau City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当 AI 开始替你点鼠标：从 OpenClaw 热潮看 Agent 安全</dc:title>
  <dc:subject>AI Agent Security Presentation</dc:subject>
  <dc:creator>OpenAI Codex</dc:creator>
  <cp:lastModifiedBy>OpenAI Codex</cp:lastModifiedBy>
  <cp:revision>1</cp:revision>
  <dcterms:created xsi:type="dcterms:W3CDTF">2026-03-16T01:14:30Z</dcterms:created>
  <dcterms:modified xsi:type="dcterms:W3CDTF">2026-03-16T01:14:30Z</dcterms:modified>
</cp:coreProperties>
</file>